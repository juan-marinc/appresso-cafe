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ción" id="{ce81bedd-9c10-5dc6-9aa0-6430771c2477}">
          <p14:sldIdLst>
            <p14:sldId id="256"/>
            <p14:sldId id="257"/>
          </p14:sldIdLst>
        </p14:section>
        <p14:section name="ml5.js en general" id="{62165959-3a36-794d-ebe1-30364523b419}">
          <p14:sldIdLst>
            <p14:sldId id="258"/>
            <p14:sldId id="259"/>
            <p14:sldId id="260"/>
            <p14:sldId id="261"/>
            <p14:sldId id="262"/>
            <p14:sldId id="263"/>
            <p14:sldId id="264"/>
          </p14:sldIdLst>
        </p14:section>
        <p14:section name="Nuestro caso" id="{c4663221-d9dc-24a8-5e95-2de9d0538065}">
          <p14:sldIdLst>
            <p14:sldId id="265"/>
            <p14:sldId id="266"/>
            <p14:sldId id="267"/>
            <p14:sldId id="268"/>
            <p14:sldId id="269"/>
            <p14:sldId id="270"/>
          </p14:sldIdLst>
        </p14:section>
        <p14:section name="Cierre" id="{45d87d5e-6f21-95f1-db0a-8d927f18003c}">
          <p14:sldIdLst>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en dos partes. Primero ml5.js en general: qué es, cómo funciona y qué puede hacer. Después, cómo lo usamos en Appresso Food para que una persona sorda pida su comida con gestos de la mano. Al final hay una demo en vivo.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partes: primero la librería en general, luego cómo funciona por dentro y al final nuestro proyecto.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Empezamos por lo general: qué es el machine learning y qué es ml5.js.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idea básica del machine learning: en vez de escribir reglas a mano, se le muestran muchos ejemplos a una red neuronal y ella ajusta sus parámetros hasta acertar. El resultado es un modelo que funciona con datos nuevos. Detectar una mano en cualquier foto con reglas escritas a mano sería casi imposible; con un modelo entrenado con miles de fotos, funciona.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ml5.js es una capa amigable sobre TensorFlow.js. Su objetivo es que cualquiera, sin saber de redes neuronales, pueda usar modelos de visión o sonido con pocas líneas de código. Todo corre en el navegador: la imagen de la cámara no sale del equipo. Es de código abierto, con licencia MIT, y nació en el programa ITP de la Universidad de Nueva York.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arriba hacia abajo: nuestro programa le pide a ml5 las manos de un video. ml5 usa TensorFlow.js, que ejecuta la red neuronal como operaciones con matrices. TensorFlow.js aprovecha la tarjeta gráfica del equipo mediante WebGPU o WebGL; si no hay, usa el procesador. Gracias a esta división, nosotros solo trabajamos en la capa de arriba.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ml5 trae varios modelos con la misma forma de uso. handPose detecta manos; bodyPose, el esqueleto del cuerpo; faceMesh, la cara; imageClassifier dice qué hay en una foto; soundClassifier reconoce palabras cortas; y neuralNetwork permite entrenar una red con tus propios datos. Nosotros usamos el de manos.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modelo de manos trabaja en dos etapas: una red rápida detecta palmas en toda la imagen y recorta la zona, y una segunda red, más precisa, ubica 21 puntos dentro del recorte: la muñeca y cuatro por dedo. Lo hace unas 20 veces por segundo. El resultado son coordenadas. Un punto clave: ml5 no sabe qué es un pulgar arriba; interpretar la forma de la mano le toca a nuestro programa.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Ventajas: privacidad, porque nada se sube; no hay costo por uso; es rápido gracias a la GPU; y se empieza con muy poco código. Límites que vimos en la práctica: con poca luz o la mano lejos los puntos tiemblan; la primera vez descarga el modelo y tarda unos segundos; los navegadores solo dan la cámara en sitios seguros (https o localhost); y lo más importante: entrega puntos, no significados.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Ahora, cómo aplicamos ml5 en nuestro proyecto de comida rápida.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problema real: una persona sorda o con dificultad para hablar llega al mostrador y depende de señalar, escribir o pedir ayuda. Nuestra propuesta es un kiosko con cámara donde pide con la mano. Todo se procesa en el equipo del local. Y siempre existe la opción de tocar la pantalla.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recorrido completo: con 1 a 4 dedos elige el combo; vuelve a mostrar dedos para la cantidad; pulgar arriba confirma; el puño cancela; la palma abierta pide ayuda y la cocina recibe un aviso. Después del pedido, una pantalla de turnos muestra su número en grande y destella cuando está listo. Todo es visual, no depende del sonido.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está nuestro aporte sobre ml5. ml5 nos da los 21 puntos unas 20 veces por segundo. Nuestras reglas comparan distancias: si la punta de un dedo queda bastante más lejos de la muñeca que su nudillo, el dedo está estirado; contando dedos sabemos el número del combo. Y para que un movimiento casual no haga un pedido, el gesto tiene que sostenerse un segundo y medio mientras se llena una barra en pantalla.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decisión importante: toda la inteligencia vive en el navegador. Cuando el cliente confirma, el gesto envía el mismo formulario que se envía al tocar el botón del combo. Así el servidor no tuvo que cambiar su lógica de pedidos. Solo agregamos dos cosas pequeñas: avisos de ayuda para la cocina y una pantalla de turnos.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Resultados. Ninguna imagen sale del equipo. ml5 lee la mano unas 20 veces por segundo. Probamos con fotos reales: en las 10 donde el modelo encontró la mano, 8 gestos se interpretaron bien; las dos fallas fueron palmas abiertas con el pulgar pegado al índice, que se confunden con 4 dedos, así que la guía en pantalla pide separar bien el pulgar. Y con 5 gestos se hace el pedido completo.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Próximos pasos. El más ambicioso: entrenar una red con ejemplos de la Lengua de Señas Colombiana, pasando de reglas escritas a mano a aprendizaje automático real. También, confirmar con la cabeza usando el modelo de cara; un kiosko en pantalla completa con QR para el turno; y servir ml5 y el modelo desde nuestro servidor para no depender de internet.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con demo: abrir localhost:8000/gestos, activar la cámara, mostrar 2 dedos para el combo 2, bajar la mano, mostrar 3 dedos para la cantidad y confirmar con el pulgar arriba. Luego mostrar la pantalla de cocina y la de turnos.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554480"/>
            <a:ext cx="6035040" cy="2377440"/>
          </a:xfrm>
          <a:prstGeom prst="rect">
            <a:avLst/>
          </a:prstGeom>
          <a:noFill/>
          <a:ln/>
        </p:spPr>
        <p:txBody>
          <a:bodyPr wrap="square" rtlCol="0"/>
          <a:lstStyle>
            <a:lvl1pPr indent="0" marL="0">
              <a:buNone/>
              <a:defRPr lang="en-US" sz="4400" b="1" dirty="0">
                <a:solidFill>
                  <a:schemeClr val="bg1"/>
                </a:solidFill>
              </a:defRPr>
            </a:lvl1pPr>
          </a:lstStyle>
          <a:p>
            <a:pPr indent="0" marL="0">
              <a:buNone/>
            </a:pPr>
            <a:endParaRPr lang="en-US" sz="4400" dirty="0"/>
          </a:p>
        </p:txBody>
      </p:sp>
      <p:sp>
        <p:nvSpPr>
          <p:cNvPr id="3" name="Text 0"/>
          <p:cNvSpPr/>
          <p:nvPr>
            <p:ph idx="101" type="body" hasCustomPrompt="1"/>
          </p:nvPr>
        </p:nvSpPr>
        <p:spPr>
          <a:xfrm>
            <a:off x="548640" y="4114800"/>
            <a:ext cx="5852160" cy="1097280"/>
          </a:xfrm>
          <a:prstGeom prst="rect">
            <a:avLst/>
          </a:prstGeom>
          <a:noFill/>
          <a:ln/>
        </p:spPr>
        <p:txBody>
          <a:bodyPr wrap="square" rtlCol="0"/>
          <a:lstStyle>
            <a:lvl1pPr indent="0" marL="0">
              <a:buNone/>
              <a:defRPr lang="en-US" sz="2000" dirty="0">
                <a:solidFill>
                  <a:schemeClr val="accent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CION">
    <p:bg>
      <p:bgPr>
        <a:solidFill>
          <a:schemeClr val="accent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103120"/>
            <a:ext cx="9144000" cy="457200"/>
          </a:xfrm>
          <a:prstGeom prst="rect">
            <a:avLst/>
          </a:prstGeom>
          <a:noFill/>
          <a:ln/>
        </p:spPr>
        <p:txBody>
          <a:bodyPr wrap="square" rtlCol="0"/>
          <a:lstStyle>
            <a:lvl1pPr indent="0" marL="0">
              <a:buNone/>
              <a:defRPr lang="en-US" sz="1800" b="1" dirty="0">
                <a:solidFill>
                  <a:schemeClr val="accent2"/>
                </a:solidFill>
              </a:defRPr>
            </a:lvl1pPr>
          </a:lstStyle>
          <a:p>
            <a:pPr indent="0" marL="0">
              <a:buNone/>
            </a:pPr>
            <a:endParaRPr lang="en-US" sz="1800" dirty="0"/>
          </a:p>
        </p:txBody>
      </p:sp>
      <p:sp>
        <p:nvSpPr>
          <p:cNvPr id="3" name="Text 0"/>
          <p:cNvSpPr/>
          <p:nvPr>
            <p:ph idx="101" type="title" hasCustomPrompt="1"/>
          </p:nvPr>
        </p:nvSpPr>
        <p:spPr>
          <a:xfrm>
            <a:off x="548640" y="2651760"/>
            <a:ext cx="10058400" cy="1645920"/>
          </a:xfrm>
          <a:prstGeom prst="rect">
            <a:avLst/>
          </a:prstGeom>
          <a:noFill/>
          <a:ln/>
        </p:spPr>
        <p:txBody>
          <a:bodyPr wrap="square" rtlCol="0"/>
          <a:lstStyle>
            <a:lvl1pPr indent="0" marL="0">
              <a:buNone/>
              <a:defRPr lang="en-US" sz="4400" b="1" dirty="0">
                <a:solidFill>
                  <a:schemeClr val="bg1"/>
                </a:solidFill>
              </a:defRPr>
            </a:lvl1pPr>
          </a:lstStyle>
          <a:p>
            <a:pPr indent="0" marL="0">
              <a:buNone/>
            </a:pPr>
            <a:endParaRPr lang="en-US" sz="4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355080"/>
            <a:ext cx="5486400" cy="274320"/>
          </a:xfrm>
          <a:prstGeom prst="rect">
            <a:avLst/>
          </a:prstGeom>
          <a:noFill/>
          <a:ln/>
        </p:spPr>
        <p:txBody>
          <a:bodyPr wrap="square" lIns="0" tIns="0" rIns="0" bIns="0" rtlCol="0" anchor="ctr"/>
          <a:lstStyle/>
          <a:p>
            <a:pPr indent="0" marL="0">
              <a:buNone/>
            </a:pPr>
            <a:r>
              <a:rPr lang="en-US" sz="1000" dirty="0">
                <a:solidFill>
                  <a:schemeClr val="accent3"/>
                </a:solidFill>
              </a:rPr>
              <a:t>ml5.js · Appresso Food</a:t>
            </a:r>
            <a:endParaRPr lang="en-US" sz="1000" dirty="0"/>
          </a:p>
        </p:txBody>
      </p:sp>
      <p:sp>
        <p:nvSpPr>
          <p:cNvPr id="3" name="Text 1"/>
          <p:cNvSpPr/>
          <p:nvPr>
            <p:ph idx="101" type="title" hasCustomPrompt="1"/>
          </p:nvPr>
        </p:nvSpPr>
        <p:spPr>
          <a:xfrm>
            <a:off x="548640" y="411480"/>
            <a:ext cx="11094415" cy="822960"/>
          </a:xfrm>
          <a:prstGeom prst="rect">
            <a:avLst/>
          </a:prstGeom>
          <a:noFill/>
          <a:ln/>
        </p:spPr>
        <p:txBody>
          <a:bodyPr wrap="square" rtlCol="0"/>
          <a:lstStyle>
            <a:lvl1pPr indent="0" marL="0">
              <a:buNone/>
              <a:defRPr lang="en-US" sz="3600" b="1" dirty="0">
                <a:solidFill>
                  <a:schemeClr val="tx1"/>
                </a:solidFill>
              </a:defRPr>
            </a:lvl1pPr>
          </a:lstStyle>
          <a:p>
            <a:pPr indent="0" marL="0">
              <a:buNone/>
            </a:pPr>
            <a:endParaRPr lang="en-US" sz="36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IERR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80160"/>
            <a:ext cx="11094415" cy="1097280"/>
          </a:xfrm>
          <a:prstGeom prst="rect">
            <a:avLst/>
          </a:prstGeom>
          <a:noFill/>
          <a:ln/>
        </p:spPr>
        <p:txBody>
          <a:bodyPr wrap="square" rtlCol="0"/>
          <a:lstStyle>
            <a:lvl1pPr indent="0" marL="0">
              <a:buNone/>
              <a:defRPr lang="en-US" sz="4400" b="1" dirty="0">
                <a:solidFill>
                  <a:schemeClr val="bg1"/>
                </a:solidFill>
              </a:defRPr>
            </a:lvl1pPr>
          </a:lstStyle>
          <a:p>
            <a:pPr indent="0" marL="0">
              <a:buNone/>
            </a:pPr>
            <a:endParaRPr lang="en-US" sz="4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4.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4.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4.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4.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4.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4.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4.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4.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4.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Foto portada" descr="Hamburguesa con queso, lechuga y tomate">    </p:cNvPr>
          <p:cNvPicPr>
            <a:picLocks noChangeAspect="1"/>
          </p:cNvPicPr>
          <p:nvPr/>
        </p:nvPicPr>
        <p:blipFill>
          <a:blip r:embed="rId1"/>
          <a:srcRect l="0" r="0" t="0" b="0"/>
          <a:stretch/>
        </p:blipFill>
        <p:spPr>
          <a:xfrm>
            <a:off x="6949440" y="0"/>
            <a:ext cx="5242255" cy="6858000"/>
          </a:xfrm>
          <a:prstGeom prst="rect">
            <a:avLst/>
          </a:prstGeom>
        </p:spPr>
      </p:pic>
      <p:sp>
        <p:nvSpPr>
          <p:cNvPr id="3" name="Text 0"/>
          <p:cNvSpPr/>
          <p:nvPr>
            <p:ph idx="100" type="title" hasCustomPrompt="1"/>
          </p:nvPr>
        </p:nvSpPr>
        <p:spPr>
          <a:xfrm>
            <a:off x="548640" y="1554480"/>
            <a:ext cx="6035040" cy="2377440"/>
          </a:xfrm>
          <a:prstGeom prst="rect">
            <a:avLst/>
          </a:prstGeom>
          <a:noFill/>
          <a:ln/>
        </p:spPr>
        <p:txBody>
          <a:bodyPr wrap="square" lIns="0" tIns="0" rIns="0" bIns="0" rtlCol="0" anchor="b"/>
          <a:lstStyle/>
          <a:p>
            <a:pPr indent="0" marL="0">
              <a:buNone/>
            </a:pPr>
            <a:r>
              <a:rPr lang="en-US" sz="4400" b="1" dirty="0">
                <a:solidFill>
                  <a:schemeClr val="bg1"/>
                </a:solidFill>
              </a:rPr>
              <a:t>ml5.js: inteligencia artificial que ve, directo en el navegador</a:t>
            </a:r>
            <a:endParaRPr lang="en-US" sz="4400" dirty="0"/>
          </a:p>
        </p:txBody>
      </p:sp>
      <p:sp>
        <p:nvSpPr>
          <p:cNvPr id="4" name="Text 0"/>
          <p:cNvSpPr/>
          <p:nvPr>
            <p:ph idx="101" type="body" hasCustomPrompt="1"/>
          </p:nvPr>
        </p:nvSpPr>
        <p:spPr>
          <a:xfrm>
            <a:off x="548640" y="4114800"/>
            <a:ext cx="5852160" cy="1097280"/>
          </a:xfrm>
          <a:prstGeom prst="rect">
            <a:avLst/>
          </a:prstGeom>
          <a:noFill/>
          <a:ln/>
        </p:spPr>
        <p:txBody>
          <a:bodyPr wrap="square" lIns="0" tIns="0" rIns="0" bIns="0" rtlCol="0" anchor="t"/>
          <a:lstStyle/>
          <a:p>
            <a:pPr indent="0" marL="0">
              <a:buNone/>
            </a:pPr>
            <a:r>
              <a:rPr lang="en-US" sz="2000" dirty="0">
                <a:solidFill>
                  <a:schemeClr val="accent2"/>
                </a:solidFill>
              </a:rPr>
              <a:t>Qué es, cómo funciona y cómo la usamos en Appresso Food</a:t>
            </a:r>
            <a:endParaRPr lang="en-US" sz="2000" dirty="0"/>
          </a:p>
        </p:txBody>
      </p:sp>
      <p:sp>
        <p:nvSpPr>
          <p:cNvPr id="5" name="Text 2"/>
          <p:cNvSpPr txBox="1"/>
          <p:nvPr/>
        </p:nvSpPr>
        <p:spPr>
          <a:xfrm>
            <a:off x="548640" y="6035040"/>
            <a:ext cx="6035040" cy="365760"/>
          </a:xfrm>
          <a:prstGeom prst="rect">
            <a:avLst/>
          </a:prstGeom>
          <a:noFill/>
          <a:ln/>
        </p:spPr>
        <p:txBody>
          <a:bodyPr wrap="square" lIns="0" tIns="0" rIns="0" bIns="0" rtlCol="0" anchor="t"/>
          <a:lstStyle/>
          <a:p>
            <a:pPr indent="0" marL="0">
              <a:buNone/>
            </a:pPr>
            <a:r>
              <a:rPr lang="en-US" sz="1200" dirty="0">
                <a:solidFill>
                  <a:srgbClr val="BFAF9F"/>
                </a:solidFill>
              </a:rPr>
              <a:t>[Nombre del expositor] · Programación Avanzada ·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94415" cy="822960"/>
          </a:xfrm>
          <a:prstGeom prst="rect">
            <a:avLst/>
          </a:prstGeom>
          <a:noFill/>
          <a:ln/>
        </p:spPr>
        <p:txBody>
          <a:bodyPr wrap="square" lIns="0" tIns="0" rIns="0" bIns="0" rtlCol="0" anchor="ctr"/>
          <a:lstStyle/>
          <a:p>
            <a:pPr indent="0" marL="0">
              <a:buNone/>
            </a:pPr>
            <a:r>
              <a:rPr lang="en-US" sz="3600" b="1" dirty="0">
                <a:solidFill>
                  <a:schemeClr val="tx1"/>
                </a:solidFill>
              </a:rPr>
              <a:t>De qué vamos a hablar</a:t>
            </a:r>
            <a:endParaRPr lang="en-US" sz="3600" dirty="0"/>
          </a:p>
        </p:txBody>
      </p:sp>
      <p:sp>
        <p:nvSpPr>
          <p:cNvPr id="3" name="Agenda 1"/>
          <p:cNvSpPr/>
          <p:nvPr/>
        </p:nvSpPr>
        <p:spPr>
          <a:xfrm>
            <a:off x="548640" y="1828800"/>
            <a:ext cx="3474720" cy="3566160"/>
          </a:xfrm>
          <a:prstGeom prst="roundRect">
            <a:avLst>
              <a:gd name="adj" fmla="val 3158"/>
            </a:avLst>
          </a:prstGeom>
          <a:solidFill>
            <a:schemeClr val="bg2"/>
          </a:solidFill>
          <a:ln/>
        </p:spPr>
      </p:sp>
      <p:sp>
        <p:nvSpPr>
          <p:cNvPr id="4" name="Text 2"/>
          <p:cNvSpPr txBox="1"/>
          <p:nvPr/>
        </p:nvSpPr>
        <p:spPr>
          <a:xfrm>
            <a:off x="914400" y="2148840"/>
            <a:ext cx="1371600" cy="1097280"/>
          </a:xfrm>
          <a:prstGeom prst="rect">
            <a:avLst/>
          </a:prstGeom>
          <a:noFill/>
          <a:ln/>
        </p:spPr>
        <p:txBody>
          <a:bodyPr wrap="square" lIns="0" tIns="0" rIns="0" bIns="0" rtlCol="0" anchor="t"/>
          <a:lstStyle/>
          <a:p>
            <a:pPr indent="0" marL="0">
              <a:buNone/>
            </a:pPr>
            <a:r>
              <a:rPr lang="en-US" sz="6000" b="1" dirty="0">
                <a:solidFill>
                  <a:schemeClr val="accent1"/>
                </a:solidFill>
                <a:latin typeface="Cambria" pitchFamily="34" charset="0"/>
                <a:ea typeface="Cambria" pitchFamily="34" charset="-122"/>
                <a:cs typeface="Cambria" pitchFamily="34" charset="-120"/>
              </a:rPr>
              <a:t>1</a:t>
            </a:r>
            <a:endParaRPr lang="en-US" sz="6000" dirty="0"/>
          </a:p>
        </p:txBody>
      </p:sp>
      <p:sp>
        <p:nvSpPr>
          <p:cNvPr id="5" name="Text 3"/>
          <p:cNvSpPr txBox="1"/>
          <p:nvPr/>
        </p:nvSpPr>
        <p:spPr>
          <a:xfrm>
            <a:off x="914400" y="3429000"/>
            <a:ext cx="2743200" cy="457200"/>
          </a:xfrm>
          <a:prstGeom prst="rect">
            <a:avLst/>
          </a:prstGeom>
          <a:noFill/>
          <a:ln/>
        </p:spPr>
        <p:txBody>
          <a:bodyPr wrap="square" lIns="0" tIns="0" rIns="0" bIns="0" rtlCol="0" anchor="t"/>
          <a:lstStyle/>
          <a:p>
            <a:pPr indent="0" marL="0">
              <a:buNone/>
            </a:pPr>
            <a:r>
              <a:rPr lang="en-US" sz="2200" b="1" dirty="0">
                <a:solidFill>
                  <a:schemeClr val="tx1"/>
                </a:solidFill>
              </a:rPr>
              <a:t>Qué es ml5.js</a:t>
            </a:r>
            <a:endParaRPr lang="en-US" sz="2200" dirty="0"/>
          </a:p>
        </p:txBody>
      </p:sp>
      <p:sp>
        <p:nvSpPr>
          <p:cNvPr id="6" name="Text 4"/>
          <p:cNvSpPr txBox="1"/>
          <p:nvPr/>
        </p:nvSpPr>
        <p:spPr>
          <a:xfrm>
            <a:off x="914400" y="3977640"/>
            <a:ext cx="2743200" cy="1097280"/>
          </a:xfrm>
          <a:prstGeom prst="rect">
            <a:avLst/>
          </a:prstGeom>
          <a:noFill/>
          <a:ln/>
        </p:spPr>
        <p:txBody>
          <a:bodyPr wrap="square" lIns="0" tIns="0" rIns="0" bIns="0" rtlCol="0" anchor="t"/>
          <a:lstStyle/>
          <a:p>
            <a:pPr indent="0" marL="0">
              <a:buNone/>
            </a:pPr>
            <a:r>
              <a:rPr lang="en-US" sz="1600" dirty="0">
                <a:solidFill>
                  <a:schemeClr val="accent3"/>
                </a:solidFill>
              </a:rPr>
              <a:t>Machine learning listo para usar en una página web</a:t>
            </a:r>
            <a:endParaRPr lang="en-US" sz="1600" dirty="0"/>
          </a:p>
        </p:txBody>
      </p:sp>
      <p:sp>
        <p:nvSpPr>
          <p:cNvPr id="7" name="Agenda 2"/>
          <p:cNvSpPr/>
          <p:nvPr/>
        </p:nvSpPr>
        <p:spPr>
          <a:xfrm>
            <a:off x="4297680" y="1828800"/>
            <a:ext cx="3474720" cy="3566160"/>
          </a:xfrm>
          <a:prstGeom prst="roundRect">
            <a:avLst>
              <a:gd name="adj" fmla="val 3158"/>
            </a:avLst>
          </a:prstGeom>
          <a:solidFill>
            <a:schemeClr val="bg2"/>
          </a:solidFill>
          <a:ln/>
        </p:spPr>
      </p:sp>
      <p:sp>
        <p:nvSpPr>
          <p:cNvPr id="8" name="Text 6"/>
          <p:cNvSpPr txBox="1"/>
          <p:nvPr/>
        </p:nvSpPr>
        <p:spPr>
          <a:xfrm>
            <a:off x="4663440" y="2148840"/>
            <a:ext cx="1371600" cy="1097280"/>
          </a:xfrm>
          <a:prstGeom prst="rect">
            <a:avLst/>
          </a:prstGeom>
          <a:noFill/>
          <a:ln/>
        </p:spPr>
        <p:txBody>
          <a:bodyPr wrap="square" lIns="0" tIns="0" rIns="0" bIns="0" rtlCol="0" anchor="t"/>
          <a:lstStyle/>
          <a:p>
            <a:pPr indent="0" marL="0">
              <a:buNone/>
            </a:pPr>
            <a:r>
              <a:rPr lang="en-US" sz="6000" b="1" dirty="0">
                <a:solidFill>
                  <a:schemeClr val="accent1"/>
                </a:solidFill>
                <a:latin typeface="Cambria" pitchFamily="34" charset="0"/>
                <a:ea typeface="Cambria" pitchFamily="34" charset="-122"/>
                <a:cs typeface="Cambria" pitchFamily="34" charset="-120"/>
              </a:rPr>
              <a:t>2</a:t>
            </a:r>
            <a:endParaRPr lang="en-US" sz="6000" dirty="0"/>
          </a:p>
        </p:txBody>
      </p:sp>
      <p:sp>
        <p:nvSpPr>
          <p:cNvPr id="9" name="Text 7"/>
          <p:cNvSpPr txBox="1"/>
          <p:nvPr/>
        </p:nvSpPr>
        <p:spPr>
          <a:xfrm>
            <a:off x="4663440" y="3429000"/>
            <a:ext cx="2743200" cy="457200"/>
          </a:xfrm>
          <a:prstGeom prst="rect">
            <a:avLst/>
          </a:prstGeom>
          <a:noFill/>
          <a:ln/>
        </p:spPr>
        <p:txBody>
          <a:bodyPr wrap="square" lIns="0" tIns="0" rIns="0" bIns="0" rtlCol="0" anchor="t"/>
          <a:lstStyle/>
          <a:p>
            <a:pPr indent="0" marL="0">
              <a:buNone/>
            </a:pPr>
            <a:r>
              <a:rPr lang="en-US" sz="2200" b="1" dirty="0">
                <a:solidFill>
                  <a:schemeClr val="tx1"/>
                </a:solidFill>
              </a:rPr>
              <a:t>Cómo funciona</a:t>
            </a:r>
            <a:endParaRPr lang="en-US" sz="2200" dirty="0"/>
          </a:p>
        </p:txBody>
      </p:sp>
      <p:sp>
        <p:nvSpPr>
          <p:cNvPr id="10" name="Text 8"/>
          <p:cNvSpPr txBox="1"/>
          <p:nvPr/>
        </p:nvSpPr>
        <p:spPr>
          <a:xfrm>
            <a:off x="4663440" y="3977640"/>
            <a:ext cx="2743200" cy="1097280"/>
          </a:xfrm>
          <a:prstGeom prst="rect">
            <a:avLst/>
          </a:prstGeom>
          <a:noFill/>
          <a:ln/>
        </p:spPr>
        <p:txBody>
          <a:bodyPr wrap="square" lIns="0" tIns="0" rIns="0" bIns="0" rtlCol="0" anchor="t"/>
          <a:lstStyle/>
          <a:p>
            <a:pPr indent="0" marL="0">
              <a:buNone/>
            </a:pPr>
            <a:r>
              <a:rPr lang="en-US" sz="1600" dirty="0">
                <a:solidFill>
                  <a:schemeClr val="accent3"/>
                </a:solidFill>
              </a:rPr>
              <a:t>Qué pasa por dentro cuando la cámara “ve” una mano</a:t>
            </a:r>
            <a:endParaRPr lang="en-US" sz="1600" dirty="0"/>
          </a:p>
        </p:txBody>
      </p:sp>
      <p:sp>
        <p:nvSpPr>
          <p:cNvPr id="11" name="Agenda 3"/>
          <p:cNvSpPr/>
          <p:nvPr/>
        </p:nvSpPr>
        <p:spPr>
          <a:xfrm>
            <a:off x="8046720" y="1828800"/>
            <a:ext cx="3474720" cy="3566160"/>
          </a:xfrm>
          <a:prstGeom prst="roundRect">
            <a:avLst>
              <a:gd name="adj" fmla="val 3158"/>
            </a:avLst>
          </a:prstGeom>
          <a:solidFill>
            <a:schemeClr val="bg2"/>
          </a:solidFill>
          <a:ln/>
        </p:spPr>
      </p:sp>
      <p:sp>
        <p:nvSpPr>
          <p:cNvPr id="12" name="Text 10"/>
          <p:cNvSpPr txBox="1"/>
          <p:nvPr/>
        </p:nvSpPr>
        <p:spPr>
          <a:xfrm>
            <a:off x="8412480" y="2148840"/>
            <a:ext cx="1371600" cy="1097280"/>
          </a:xfrm>
          <a:prstGeom prst="rect">
            <a:avLst/>
          </a:prstGeom>
          <a:noFill/>
          <a:ln/>
        </p:spPr>
        <p:txBody>
          <a:bodyPr wrap="square" lIns="0" tIns="0" rIns="0" bIns="0" rtlCol="0" anchor="t"/>
          <a:lstStyle/>
          <a:p>
            <a:pPr indent="0" marL="0">
              <a:buNone/>
            </a:pPr>
            <a:r>
              <a:rPr lang="en-US" sz="6000" b="1" dirty="0">
                <a:solidFill>
                  <a:schemeClr val="accent1"/>
                </a:solidFill>
                <a:latin typeface="Cambria" pitchFamily="34" charset="0"/>
                <a:ea typeface="Cambria" pitchFamily="34" charset="-122"/>
                <a:cs typeface="Cambria" pitchFamily="34" charset="-120"/>
              </a:rPr>
              <a:t>3</a:t>
            </a:r>
            <a:endParaRPr lang="en-US" sz="6000" dirty="0"/>
          </a:p>
        </p:txBody>
      </p:sp>
      <p:sp>
        <p:nvSpPr>
          <p:cNvPr id="13" name="Text 11"/>
          <p:cNvSpPr txBox="1"/>
          <p:nvPr/>
        </p:nvSpPr>
        <p:spPr>
          <a:xfrm>
            <a:off x="8412480" y="3429000"/>
            <a:ext cx="2743200" cy="457200"/>
          </a:xfrm>
          <a:prstGeom prst="rect">
            <a:avLst/>
          </a:prstGeom>
          <a:noFill/>
          <a:ln/>
        </p:spPr>
        <p:txBody>
          <a:bodyPr wrap="square" lIns="0" tIns="0" rIns="0" bIns="0" rtlCol="0" anchor="t"/>
          <a:lstStyle/>
          <a:p>
            <a:pPr indent="0" marL="0">
              <a:buNone/>
            </a:pPr>
            <a:r>
              <a:rPr lang="en-US" sz="2200" b="1" dirty="0">
                <a:solidFill>
                  <a:schemeClr val="tx1"/>
                </a:solidFill>
              </a:rPr>
              <a:t>Nuestro caso</a:t>
            </a:r>
            <a:endParaRPr lang="en-US" sz="2200" dirty="0"/>
          </a:p>
        </p:txBody>
      </p:sp>
      <p:sp>
        <p:nvSpPr>
          <p:cNvPr id="14" name="Text 12"/>
          <p:cNvSpPr txBox="1"/>
          <p:nvPr/>
        </p:nvSpPr>
        <p:spPr>
          <a:xfrm>
            <a:off x="8412480" y="3977640"/>
            <a:ext cx="2743200" cy="1097280"/>
          </a:xfrm>
          <a:prstGeom prst="rect">
            <a:avLst/>
          </a:prstGeom>
          <a:noFill/>
          <a:ln/>
        </p:spPr>
        <p:txBody>
          <a:bodyPr wrap="square" lIns="0" tIns="0" rIns="0" bIns="0" rtlCol="0" anchor="t"/>
          <a:lstStyle/>
          <a:p>
            <a:pPr indent="0" marL="0">
              <a:buNone/>
            </a:pPr>
            <a:r>
              <a:rPr lang="en-US" sz="1600" dirty="0">
                <a:solidFill>
                  <a:schemeClr val="accent3"/>
                </a:solidFill>
              </a:rPr>
              <a:t>Pedir comida con gestos en Appresso Food</a:t>
            </a:r>
            <a:endParaRPr lang="en-US" sz="16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103120"/>
            <a:ext cx="9144000" cy="457200"/>
          </a:xfrm>
          <a:prstGeom prst="rect">
            <a:avLst/>
          </a:prstGeom>
          <a:noFill/>
          <a:ln/>
        </p:spPr>
        <p:txBody>
          <a:bodyPr wrap="square" lIns="0" tIns="0" rIns="0" bIns="0" rtlCol="0"/>
          <a:lstStyle/>
          <a:p>
            <a:pPr indent="0" marL="0">
              <a:buNone/>
            </a:pPr>
            <a:r>
              <a:rPr lang="en-US" sz="1800" b="1" dirty="0">
                <a:solidFill>
                  <a:schemeClr val="accent2"/>
                </a:solidFill>
              </a:rPr>
              <a:t>Parte 1</a:t>
            </a:r>
            <a:endParaRPr lang="en-US" sz="1800" dirty="0"/>
          </a:p>
        </p:txBody>
      </p:sp>
      <p:sp>
        <p:nvSpPr>
          <p:cNvPr id="3" name="Text 0"/>
          <p:cNvSpPr/>
          <p:nvPr>
            <p:ph idx="101" type="title" hasCustomPrompt="1"/>
          </p:nvPr>
        </p:nvSpPr>
        <p:spPr>
          <a:xfrm>
            <a:off x="548640" y="2651760"/>
            <a:ext cx="10058400" cy="1645920"/>
          </a:xfrm>
          <a:prstGeom prst="rect">
            <a:avLst/>
          </a:prstGeom>
          <a:noFill/>
          <a:ln/>
        </p:spPr>
        <p:txBody>
          <a:bodyPr wrap="square" lIns="0" tIns="0" rIns="0" bIns="0" rtlCol="0" anchor="t"/>
          <a:lstStyle/>
          <a:p>
            <a:pPr indent="0" marL="0">
              <a:buNone/>
            </a:pPr>
            <a:r>
              <a:rPr lang="en-US" sz="4400" b="1" dirty="0">
                <a:solidFill>
                  <a:schemeClr val="bg1"/>
                </a:solidFill>
              </a:rPr>
              <a:t>ml5.js en general</a:t>
            </a:r>
            <a:endParaRPr lang="en-US" sz="4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94415" cy="822960"/>
          </a:xfrm>
          <a:prstGeom prst="rect">
            <a:avLst/>
          </a:prstGeom>
          <a:noFill/>
          <a:ln/>
        </p:spPr>
        <p:txBody>
          <a:bodyPr wrap="square" lIns="0" tIns="0" rIns="0" bIns="0" rtlCol="0" anchor="ctr"/>
          <a:lstStyle/>
          <a:p>
            <a:pPr indent="0" marL="0">
              <a:buNone/>
            </a:pPr>
            <a:r>
              <a:rPr lang="en-US" sz="3600" b="1" dirty="0">
                <a:solidFill>
                  <a:schemeClr val="tx1"/>
                </a:solidFill>
              </a:rPr>
              <a:t>Primero: ¿qué es el machine learning?</a:t>
            </a:r>
            <a:endParaRPr lang="en-US" sz="3600" dirty="0"/>
          </a:p>
        </p:txBody>
      </p:sp>
      <p:sp>
        <p:nvSpPr>
          <p:cNvPr id="3" name="Paso Ejemplos"/>
          <p:cNvSpPr/>
          <p:nvPr/>
        </p:nvSpPr>
        <p:spPr>
          <a:xfrm>
            <a:off x="548640" y="1645920"/>
            <a:ext cx="3291840" cy="2834640"/>
          </a:xfrm>
          <a:prstGeom prst="roundRect">
            <a:avLst>
              <a:gd name="adj" fmla="val 3871"/>
            </a:avLst>
          </a:prstGeom>
          <a:solidFill>
            <a:schemeClr val="bg2"/>
          </a:solidFill>
          <a:ln/>
        </p:spPr>
      </p:sp>
      <p:sp>
        <p:nvSpPr>
          <p:cNvPr id="4" name="Círculo FaImages"/>
          <p:cNvSpPr/>
          <p:nvPr/>
        </p:nvSpPr>
        <p:spPr>
          <a:xfrm>
            <a:off x="868680" y="1920240"/>
            <a:ext cx="731520" cy="731520"/>
          </a:xfrm>
          <a:prstGeom prst="ellipse">
            <a:avLst/>
          </a:prstGeom>
          <a:solidFill>
            <a:schemeClr val="accent1"/>
          </a:solidFill>
          <a:ln/>
        </p:spPr>
      </p:sp>
      <p:pic>
        <p:nvPicPr>
          <p:cNvPr id="5" name="Ícono FaImages" descr="preencoded.png">    </p:cNvPr>
          <p:cNvPicPr>
            <a:picLocks noChangeAspect="1"/>
          </p:cNvPicPr>
          <p:nvPr/>
        </p:nvPicPr>
        <p:blipFill>
          <a:blip r:embed="rId1"/>
          <a:stretch>
            <a:fillRect/>
          </a:stretch>
        </p:blipFill>
        <p:spPr>
          <a:xfrm>
            <a:off x="1051560" y="2103120"/>
            <a:ext cx="365760" cy="365760"/>
          </a:xfrm>
          <a:prstGeom prst="rect">
            <a:avLst/>
          </a:prstGeom>
        </p:spPr>
      </p:pic>
      <p:sp>
        <p:nvSpPr>
          <p:cNvPr id="6" name="Text 3"/>
          <p:cNvSpPr txBox="1"/>
          <p:nvPr/>
        </p:nvSpPr>
        <p:spPr>
          <a:xfrm>
            <a:off x="868680" y="2834640"/>
            <a:ext cx="2743200" cy="457200"/>
          </a:xfrm>
          <a:prstGeom prst="rect">
            <a:avLst/>
          </a:prstGeom>
          <a:noFill/>
          <a:ln/>
        </p:spPr>
        <p:txBody>
          <a:bodyPr wrap="square" lIns="0" tIns="0" rIns="0" bIns="0" rtlCol="0" anchor="t"/>
          <a:lstStyle/>
          <a:p>
            <a:pPr indent="0" marL="0">
              <a:buNone/>
            </a:pPr>
            <a:r>
              <a:rPr lang="en-US" sz="2200" b="1" dirty="0">
                <a:solidFill>
                  <a:schemeClr val="tx1"/>
                </a:solidFill>
              </a:rPr>
              <a:t>Ejemplos</a:t>
            </a:r>
            <a:endParaRPr lang="en-US" sz="2200" dirty="0"/>
          </a:p>
        </p:txBody>
      </p:sp>
      <p:sp>
        <p:nvSpPr>
          <p:cNvPr id="7" name="Text 4"/>
          <p:cNvSpPr txBox="1"/>
          <p:nvPr/>
        </p:nvSpPr>
        <p:spPr>
          <a:xfrm>
            <a:off x="868680" y="3337560"/>
            <a:ext cx="2743200" cy="1005840"/>
          </a:xfrm>
          <a:prstGeom prst="rect">
            <a:avLst/>
          </a:prstGeom>
          <a:noFill/>
          <a:ln/>
        </p:spPr>
        <p:txBody>
          <a:bodyPr wrap="square" lIns="0" tIns="0" rIns="0" bIns="0" rtlCol="0" anchor="t"/>
          <a:lstStyle/>
          <a:p>
            <a:pPr indent="0" marL="0">
              <a:buNone/>
            </a:pPr>
            <a:r>
              <a:rPr lang="en-US" sz="1600" dirty="0">
                <a:solidFill>
                  <a:schemeClr val="accent3"/>
                </a:solidFill>
              </a:rPr>
              <a:t>Miles de fotos de manos con sus puntos marcados</a:t>
            </a:r>
            <a:endParaRPr lang="en-US" sz="1600" dirty="0"/>
          </a:p>
        </p:txBody>
      </p:sp>
      <p:sp>
        <p:nvSpPr>
          <p:cNvPr id="8" name="Flecha"/>
          <p:cNvSpPr/>
          <p:nvPr/>
        </p:nvSpPr>
        <p:spPr>
          <a:xfrm>
            <a:off x="3913632" y="2926080"/>
            <a:ext cx="457200" cy="320040"/>
          </a:xfrm>
          <a:prstGeom prst="rightArrow">
            <a:avLst/>
          </a:prstGeom>
          <a:solidFill>
            <a:schemeClr val="accent1"/>
          </a:solidFill>
          <a:ln/>
        </p:spPr>
      </p:sp>
      <p:sp>
        <p:nvSpPr>
          <p:cNvPr id="9" name="Paso Entrenamiento"/>
          <p:cNvSpPr/>
          <p:nvPr/>
        </p:nvSpPr>
        <p:spPr>
          <a:xfrm>
            <a:off x="4343400" y="1645920"/>
            <a:ext cx="3291840" cy="2834640"/>
          </a:xfrm>
          <a:prstGeom prst="roundRect">
            <a:avLst>
              <a:gd name="adj" fmla="val 3871"/>
            </a:avLst>
          </a:prstGeom>
          <a:solidFill>
            <a:schemeClr val="bg2"/>
          </a:solidFill>
          <a:ln/>
        </p:spPr>
      </p:sp>
      <p:sp>
        <p:nvSpPr>
          <p:cNvPr id="10" name="Círculo FaGears"/>
          <p:cNvSpPr/>
          <p:nvPr/>
        </p:nvSpPr>
        <p:spPr>
          <a:xfrm>
            <a:off x="4663440" y="1920240"/>
            <a:ext cx="731520" cy="731520"/>
          </a:xfrm>
          <a:prstGeom prst="ellipse">
            <a:avLst/>
          </a:prstGeom>
          <a:solidFill>
            <a:schemeClr val="accent1"/>
          </a:solidFill>
          <a:ln/>
        </p:spPr>
      </p:sp>
      <p:pic>
        <p:nvPicPr>
          <p:cNvPr id="11" name="Ícono FaGears" descr="preencoded.png">    </p:cNvPr>
          <p:cNvPicPr>
            <a:picLocks noChangeAspect="1"/>
          </p:cNvPicPr>
          <p:nvPr/>
        </p:nvPicPr>
        <p:blipFill>
          <a:blip r:embed="rId2"/>
          <a:stretch>
            <a:fillRect/>
          </a:stretch>
        </p:blipFill>
        <p:spPr>
          <a:xfrm>
            <a:off x="4846320" y="2103120"/>
            <a:ext cx="365760" cy="365760"/>
          </a:xfrm>
          <a:prstGeom prst="rect">
            <a:avLst/>
          </a:prstGeom>
        </p:spPr>
      </p:pic>
      <p:sp>
        <p:nvSpPr>
          <p:cNvPr id="12" name="Text 8"/>
          <p:cNvSpPr txBox="1"/>
          <p:nvPr/>
        </p:nvSpPr>
        <p:spPr>
          <a:xfrm>
            <a:off x="4663440" y="2834640"/>
            <a:ext cx="2743200" cy="457200"/>
          </a:xfrm>
          <a:prstGeom prst="rect">
            <a:avLst/>
          </a:prstGeom>
          <a:noFill/>
          <a:ln/>
        </p:spPr>
        <p:txBody>
          <a:bodyPr wrap="square" lIns="0" tIns="0" rIns="0" bIns="0" rtlCol="0" anchor="t"/>
          <a:lstStyle/>
          <a:p>
            <a:pPr indent="0" marL="0">
              <a:buNone/>
            </a:pPr>
            <a:r>
              <a:rPr lang="en-US" sz="2200" b="1" dirty="0">
                <a:solidFill>
                  <a:schemeClr val="tx1"/>
                </a:solidFill>
              </a:rPr>
              <a:t>Entrenamiento</a:t>
            </a:r>
            <a:endParaRPr lang="en-US" sz="2200" dirty="0"/>
          </a:p>
        </p:txBody>
      </p:sp>
      <p:sp>
        <p:nvSpPr>
          <p:cNvPr id="13" name="Text 9"/>
          <p:cNvSpPr txBox="1"/>
          <p:nvPr/>
        </p:nvSpPr>
        <p:spPr>
          <a:xfrm>
            <a:off x="4663440" y="3337560"/>
            <a:ext cx="2743200" cy="1005840"/>
          </a:xfrm>
          <a:prstGeom prst="rect">
            <a:avLst/>
          </a:prstGeom>
          <a:noFill/>
          <a:ln/>
        </p:spPr>
        <p:txBody>
          <a:bodyPr wrap="square" lIns="0" tIns="0" rIns="0" bIns="0" rtlCol="0" anchor="t"/>
          <a:lstStyle/>
          <a:p>
            <a:pPr indent="0" marL="0">
              <a:buNone/>
            </a:pPr>
            <a:r>
              <a:rPr lang="en-US" sz="1600" dirty="0">
                <a:solidFill>
                  <a:schemeClr val="accent3"/>
                </a:solidFill>
              </a:rPr>
              <a:t>La red ajusta sus números hasta acertar en esos ejemplos</a:t>
            </a:r>
            <a:endParaRPr lang="en-US" sz="1600" dirty="0"/>
          </a:p>
        </p:txBody>
      </p:sp>
      <p:sp>
        <p:nvSpPr>
          <p:cNvPr id="14" name="Flecha"/>
          <p:cNvSpPr/>
          <p:nvPr/>
        </p:nvSpPr>
        <p:spPr>
          <a:xfrm>
            <a:off x="7708392" y="2926080"/>
            <a:ext cx="457200" cy="320040"/>
          </a:xfrm>
          <a:prstGeom prst="rightArrow">
            <a:avLst/>
          </a:prstGeom>
          <a:solidFill>
            <a:schemeClr val="accent1"/>
          </a:solidFill>
          <a:ln/>
        </p:spPr>
      </p:sp>
      <p:sp>
        <p:nvSpPr>
          <p:cNvPr id="15" name="Paso Modelo"/>
          <p:cNvSpPr/>
          <p:nvPr/>
        </p:nvSpPr>
        <p:spPr>
          <a:xfrm>
            <a:off x="8138160" y="1645920"/>
            <a:ext cx="3291840" cy="2834640"/>
          </a:xfrm>
          <a:prstGeom prst="roundRect">
            <a:avLst>
              <a:gd name="adj" fmla="val 3871"/>
            </a:avLst>
          </a:prstGeom>
          <a:solidFill>
            <a:schemeClr val="bg2"/>
          </a:solidFill>
          <a:ln/>
        </p:spPr>
      </p:sp>
      <p:sp>
        <p:nvSpPr>
          <p:cNvPr id="16" name="Círculo FaWandMagicSparkles"/>
          <p:cNvSpPr/>
          <p:nvPr/>
        </p:nvSpPr>
        <p:spPr>
          <a:xfrm>
            <a:off x="8458200" y="1920240"/>
            <a:ext cx="731520" cy="731520"/>
          </a:xfrm>
          <a:prstGeom prst="ellipse">
            <a:avLst/>
          </a:prstGeom>
          <a:solidFill>
            <a:schemeClr val="accent1"/>
          </a:solidFill>
          <a:ln/>
        </p:spPr>
      </p:sp>
      <p:pic>
        <p:nvPicPr>
          <p:cNvPr id="17" name="Ícono FaWandMagicSparkles" descr="preencoded.png">    </p:cNvPr>
          <p:cNvPicPr>
            <a:picLocks noChangeAspect="1"/>
          </p:cNvPicPr>
          <p:nvPr/>
        </p:nvPicPr>
        <p:blipFill>
          <a:blip r:embed="rId3"/>
          <a:stretch>
            <a:fillRect/>
          </a:stretch>
        </p:blipFill>
        <p:spPr>
          <a:xfrm>
            <a:off x="8641080" y="2103120"/>
            <a:ext cx="365760" cy="365760"/>
          </a:xfrm>
          <a:prstGeom prst="rect">
            <a:avLst/>
          </a:prstGeom>
        </p:spPr>
      </p:pic>
      <p:sp>
        <p:nvSpPr>
          <p:cNvPr id="18" name="Text 13"/>
          <p:cNvSpPr txBox="1"/>
          <p:nvPr/>
        </p:nvSpPr>
        <p:spPr>
          <a:xfrm>
            <a:off x="8458200" y="2834640"/>
            <a:ext cx="2743200" cy="457200"/>
          </a:xfrm>
          <a:prstGeom prst="rect">
            <a:avLst/>
          </a:prstGeom>
          <a:noFill/>
          <a:ln/>
        </p:spPr>
        <p:txBody>
          <a:bodyPr wrap="square" lIns="0" tIns="0" rIns="0" bIns="0" rtlCol="0" anchor="t"/>
          <a:lstStyle/>
          <a:p>
            <a:pPr indent="0" marL="0">
              <a:buNone/>
            </a:pPr>
            <a:r>
              <a:rPr lang="en-US" sz="2200" b="1" dirty="0">
                <a:solidFill>
                  <a:schemeClr val="tx1"/>
                </a:solidFill>
              </a:rPr>
              <a:t>Modelo</a:t>
            </a:r>
            <a:endParaRPr lang="en-US" sz="2200" dirty="0"/>
          </a:p>
        </p:txBody>
      </p:sp>
      <p:sp>
        <p:nvSpPr>
          <p:cNvPr id="19" name="Text 14"/>
          <p:cNvSpPr txBox="1"/>
          <p:nvPr/>
        </p:nvSpPr>
        <p:spPr>
          <a:xfrm>
            <a:off x="8458200" y="3337560"/>
            <a:ext cx="2743200" cy="1005840"/>
          </a:xfrm>
          <a:prstGeom prst="rect">
            <a:avLst/>
          </a:prstGeom>
          <a:noFill/>
          <a:ln/>
        </p:spPr>
        <p:txBody>
          <a:bodyPr wrap="square" lIns="0" tIns="0" rIns="0" bIns="0" rtlCol="0" anchor="t"/>
          <a:lstStyle/>
          <a:p>
            <a:pPr indent="0" marL="0">
              <a:buNone/>
            </a:pPr>
            <a:r>
              <a:rPr lang="en-US" sz="1600" dirty="0">
                <a:solidFill>
                  <a:schemeClr val="accent3"/>
                </a:solidFill>
              </a:rPr>
              <a:t>Predice en imágenes que nunca ha visto</a:t>
            </a:r>
            <a:endParaRPr lang="en-US" sz="1600" dirty="0"/>
          </a:p>
        </p:txBody>
      </p:sp>
      <p:sp>
        <p:nvSpPr>
          <p:cNvPr id="20" name="Comparación"/>
          <p:cNvSpPr/>
          <p:nvPr/>
        </p:nvSpPr>
        <p:spPr>
          <a:xfrm>
            <a:off x="548640" y="4846320"/>
            <a:ext cx="11094415" cy="1097280"/>
          </a:xfrm>
          <a:prstGeom prst="roundRect">
            <a:avLst>
              <a:gd name="adj" fmla="val 10000"/>
            </a:avLst>
          </a:prstGeom>
          <a:solidFill>
            <a:schemeClr val="tx1"/>
          </a:solidFill>
          <a:ln/>
        </p:spPr>
      </p:sp>
      <p:sp>
        <p:nvSpPr>
          <p:cNvPr id="21" name="Text 16"/>
          <p:cNvSpPr txBox="1"/>
          <p:nvPr/>
        </p:nvSpPr>
        <p:spPr>
          <a:xfrm>
            <a:off x="914400" y="4846320"/>
            <a:ext cx="10362895" cy="1097280"/>
          </a:xfrm>
          <a:prstGeom prst="rect">
            <a:avLst/>
          </a:prstGeom>
          <a:noFill/>
          <a:ln/>
        </p:spPr>
        <p:txBody>
          <a:bodyPr wrap="square" lIns="0" tIns="0" rIns="0" bIns="0" rtlCol="0" anchor="ctr"/>
          <a:lstStyle/>
          <a:p>
            <a:pPr indent="0" marL="0">
              <a:buNone/>
            </a:pPr>
            <a:r>
              <a:rPr lang="en-US" sz="1800" b="1" dirty="0">
                <a:solidFill>
                  <a:schemeClr val="accent2"/>
                </a:solidFill>
              </a:rPr>
              <a:t>Programación tradicional: </a:t>
            </a:r>
            <a:pPr indent="0" marL="0">
              <a:buNone/>
            </a:pPr>
            <a:r>
              <a:rPr lang="en-US" sz="1800" dirty="0">
                <a:solidFill>
                  <a:schemeClr val="bg1"/>
                </a:solidFill>
              </a:rPr>
              <a:t>nosotros escribimos las reglas.   </a:t>
            </a:r>
            <a:pPr indent="0" marL="0">
              <a:buNone/>
            </a:pPr>
            <a:r>
              <a:rPr lang="en-US" sz="1800" b="1" dirty="0">
                <a:solidFill>
                  <a:schemeClr val="accent2"/>
                </a:solidFill>
              </a:rPr>
              <a:t>Machine learning: </a:t>
            </a:r>
            <a:pPr indent="0" marL="0">
              <a:buNone/>
            </a:pPr>
            <a:r>
              <a:rPr lang="en-US" sz="1800" dirty="0">
                <a:solidFill>
                  <a:schemeClr val="bg1"/>
                </a:solidFill>
              </a:rPr>
              <a:t>el modelo aprende las reglas a partir de ejemplos.</a:t>
            </a:r>
            <a:endParaRPr lang="en-US" sz="18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94415" cy="822960"/>
          </a:xfrm>
          <a:prstGeom prst="rect">
            <a:avLst/>
          </a:prstGeom>
          <a:noFill/>
          <a:ln/>
        </p:spPr>
        <p:txBody>
          <a:bodyPr wrap="square" lIns="0" tIns="0" rIns="0" bIns="0" rtlCol="0" anchor="ctr"/>
          <a:lstStyle/>
          <a:p>
            <a:pPr indent="0" marL="0">
              <a:buNone/>
            </a:pPr>
            <a:r>
              <a:rPr lang="en-US" sz="3600" b="1" dirty="0">
                <a:solidFill>
                  <a:schemeClr val="tx1"/>
                </a:solidFill>
              </a:rPr>
              <a:t>ml5.js: machine learning amigable para la web</a:t>
            </a:r>
            <a:endParaRPr lang="en-US" sz="3600" dirty="0"/>
          </a:p>
        </p:txBody>
      </p:sp>
      <p:sp>
        <p:nvSpPr>
          <p:cNvPr id="3" name="Corre en el navegador"/>
          <p:cNvSpPr/>
          <p:nvPr/>
        </p:nvSpPr>
        <p:spPr>
          <a:xfrm>
            <a:off x="548640" y="1600200"/>
            <a:ext cx="5440680" cy="1965960"/>
          </a:xfrm>
          <a:prstGeom prst="roundRect">
            <a:avLst>
              <a:gd name="adj" fmla="val 5581"/>
            </a:avLst>
          </a:prstGeom>
          <a:solidFill>
            <a:schemeClr val="bg2"/>
          </a:solidFill>
          <a:ln/>
        </p:spPr>
      </p:sp>
      <p:sp>
        <p:nvSpPr>
          <p:cNvPr id="4" name="Círculo FaGlobe"/>
          <p:cNvSpPr/>
          <p:nvPr/>
        </p:nvSpPr>
        <p:spPr>
          <a:xfrm>
            <a:off x="868680" y="1920240"/>
            <a:ext cx="822960" cy="822960"/>
          </a:xfrm>
          <a:prstGeom prst="ellipse">
            <a:avLst/>
          </a:prstGeom>
          <a:solidFill>
            <a:schemeClr val="accent1"/>
          </a:solidFill>
          <a:ln/>
        </p:spPr>
      </p:sp>
      <p:pic>
        <p:nvPicPr>
          <p:cNvPr id="5" name="Ícono FaGlobe" descr="preencoded.png">    </p:cNvPr>
          <p:cNvPicPr>
            <a:picLocks noChangeAspect="1"/>
          </p:cNvPicPr>
          <p:nvPr/>
        </p:nvPicPr>
        <p:blipFill>
          <a:blip r:embed="rId1"/>
          <a:stretch>
            <a:fillRect/>
          </a:stretch>
        </p:blipFill>
        <p:spPr>
          <a:xfrm>
            <a:off x="1074420" y="2125980"/>
            <a:ext cx="411480" cy="411480"/>
          </a:xfrm>
          <a:prstGeom prst="rect">
            <a:avLst/>
          </a:prstGeom>
        </p:spPr>
      </p:pic>
      <p:sp>
        <p:nvSpPr>
          <p:cNvPr id="6" name="Text 3"/>
          <p:cNvSpPr txBox="1"/>
          <p:nvPr/>
        </p:nvSpPr>
        <p:spPr>
          <a:xfrm>
            <a:off x="1920240" y="1920240"/>
            <a:ext cx="3840480" cy="457200"/>
          </a:xfrm>
          <a:prstGeom prst="rect">
            <a:avLst/>
          </a:prstGeom>
          <a:noFill/>
          <a:ln/>
        </p:spPr>
        <p:txBody>
          <a:bodyPr wrap="square" lIns="0" tIns="0" rIns="0" bIns="0" rtlCol="0" anchor="t"/>
          <a:lstStyle/>
          <a:p>
            <a:pPr indent="0" marL="0">
              <a:buNone/>
            </a:pPr>
            <a:r>
              <a:rPr lang="en-US" sz="2000" b="1" dirty="0">
                <a:solidFill>
                  <a:schemeClr val="tx1"/>
                </a:solidFill>
              </a:rPr>
              <a:t>Corre en el navegador</a:t>
            </a:r>
            <a:endParaRPr lang="en-US" sz="2000" dirty="0"/>
          </a:p>
        </p:txBody>
      </p:sp>
      <p:sp>
        <p:nvSpPr>
          <p:cNvPr id="7" name="Text 4"/>
          <p:cNvSpPr txBox="1"/>
          <p:nvPr/>
        </p:nvSpPr>
        <p:spPr>
          <a:xfrm>
            <a:off x="1920240" y="2423160"/>
            <a:ext cx="3840480" cy="914400"/>
          </a:xfrm>
          <a:prstGeom prst="rect">
            <a:avLst/>
          </a:prstGeom>
          <a:noFill/>
          <a:ln/>
        </p:spPr>
        <p:txBody>
          <a:bodyPr wrap="square" lIns="0" tIns="0" rIns="0" bIns="0" rtlCol="0" anchor="t"/>
          <a:lstStyle/>
          <a:p>
            <a:pPr indent="0" marL="0">
              <a:buNone/>
            </a:pPr>
            <a:r>
              <a:rPr lang="en-US" sz="1600" dirty="0">
                <a:solidFill>
                  <a:schemeClr val="accent3"/>
                </a:solidFill>
              </a:rPr>
              <a:t>Solo JavaScript y la cámara: sin instalar nada y sin servidor de IA.</a:t>
            </a:r>
            <a:endParaRPr lang="en-US" sz="1600" dirty="0"/>
          </a:p>
        </p:txBody>
      </p:sp>
      <p:sp>
        <p:nvSpPr>
          <p:cNvPr id="8" name="Construida sobre TensorFlow.js"/>
          <p:cNvSpPr/>
          <p:nvPr/>
        </p:nvSpPr>
        <p:spPr>
          <a:xfrm>
            <a:off x="6172200" y="1600200"/>
            <a:ext cx="5440680" cy="1965960"/>
          </a:xfrm>
          <a:prstGeom prst="roundRect">
            <a:avLst>
              <a:gd name="adj" fmla="val 5581"/>
            </a:avLst>
          </a:prstGeom>
          <a:solidFill>
            <a:schemeClr val="bg2"/>
          </a:solidFill>
          <a:ln/>
        </p:spPr>
      </p:sp>
      <p:sp>
        <p:nvSpPr>
          <p:cNvPr id="9" name="Círculo FaMicrochip"/>
          <p:cNvSpPr/>
          <p:nvPr/>
        </p:nvSpPr>
        <p:spPr>
          <a:xfrm>
            <a:off x="6492240" y="1920240"/>
            <a:ext cx="822960" cy="822960"/>
          </a:xfrm>
          <a:prstGeom prst="ellipse">
            <a:avLst/>
          </a:prstGeom>
          <a:solidFill>
            <a:schemeClr val="accent1"/>
          </a:solidFill>
          <a:ln/>
        </p:spPr>
      </p:sp>
      <p:pic>
        <p:nvPicPr>
          <p:cNvPr id="10" name="Ícono FaMicrochip" descr="preencoded.png">    </p:cNvPr>
          <p:cNvPicPr>
            <a:picLocks noChangeAspect="1"/>
          </p:cNvPicPr>
          <p:nvPr/>
        </p:nvPicPr>
        <p:blipFill>
          <a:blip r:embed="rId2"/>
          <a:stretch>
            <a:fillRect/>
          </a:stretch>
        </p:blipFill>
        <p:spPr>
          <a:xfrm>
            <a:off x="6697980" y="2125980"/>
            <a:ext cx="411480" cy="411480"/>
          </a:xfrm>
          <a:prstGeom prst="rect">
            <a:avLst/>
          </a:prstGeom>
        </p:spPr>
      </p:pic>
      <p:sp>
        <p:nvSpPr>
          <p:cNvPr id="11" name="Text 7"/>
          <p:cNvSpPr txBox="1"/>
          <p:nvPr/>
        </p:nvSpPr>
        <p:spPr>
          <a:xfrm>
            <a:off x="7543800" y="1920240"/>
            <a:ext cx="3840480" cy="457200"/>
          </a:xfrm>
          <a:prstGeom prst="rect">
            <a:avLst/>
          </a:prstGeom>
          <a:noFill/>
          <a:ln/>
        </p:spPr>
        <p:txBody>
          <a:bodyPr wrap="square" lIns="0" tIns="0" rIns="0" bIns="0" rtlCol="0" anchor="t"/>
          <a:lstStyle/>
          <a:p>
            <a:pPr indent="0" marL="0">
              <a:buNone/>
            </a:pPr>
            <a:r>
              <a:rPr lang="en-US" sz="2000" b="1" dirty="0">
                <a:solidFill>
                  <a:schemeClr val="tx1"/>
                </a:solidFill>
              </a:rPr>
              <a:t>Construida sobre TensorFlow.js</a:t>
            </a:r>
            <a:endParaRPr lang="en-US" sz="2000" dirty="0"/>
          </a:p>
        </p:txBody>
      </p:sp>
      <p:sp>
        <p:nvSpPr>
          <p:cNvPr id="12" name="Text 8"/>
          <p:cNvSpPr txBox="1"/>
          <p:nvPr/>
        </p:nvSpPr>
        <p:spPr>
          <a:xfrm>
            <a:off x="7543800" y="2423160"/>
            <a:ext cx="3840480" cy="914400"/>
          </a:xfrm>
          <a:prstGeom prst="rect">
            <a:avLst/>
          </a:prstGeom>
          <a:noFill/>
          <a:ln/>
        </p:spPr>
        <p:txBody>
          <a:bodyPr wrap="square" lIns="0" tIns="0" rIns="0" bIns="0" rtlCol="0" anchor="t"/>
          <a:lstStyle/>
          <a:p>
            <a:pPr indent="0" marL="0">
              <a:buNone/>
            </a:pPr>
            <a:r>
              <a:rPr lang="en-US" sz="1600" dirty="0">
                <a:solidFill>
                  <a:schemeClr val="accent3"/>
                </a:solidFill>
              </a:rPr>
              <a:t>La librería de Google que usa la tarjeta gráfica para calcular rápido.</a:t>
            </a:r>
            <a:endParaRPr lang="en-US" sz="1600" dirty="0"/>
          </a:p>
        </p:txBody>
      </p:sp>
      <p:sp>
        <p:nvSpPr>
          <p:cNvPr id="13" name="Modelos ya entrenados"/>
          <p:cNvSpPr/>
          <p:nvPr/>
        </p:nvSpPr>
        <p:spPr>
          <a:xfrm>
            <a:off x="548640" y="3840480"/>
            <a:ext cx="5440680" cy="1965960"/>
          </a:xfrm>
          <a:prstGeom prst="roundRect">
            <a:avLst>
              <a:gd name="adj" fmla="val 5581"/>
            </a:avLst>
          </a:prstGeom>
          <a:solidFill>
            <a:schemeClr val="bg2"/>
          </a:solidFill>
          <a:ln/>
        </p:spPr>
      </p:sp>
      <p:sp>
        <p:nvSpPr>
          <p:cNvPr id="14" name="Círculo FaBoxOpen"/>
          <p:cNvSpPr/>
          <p:nvPr/>
        </p:nvSpPr>
        <p:spPr>
          <a:xfrm>
            <a:off x="868680" y="4160520"/>
            <a:ext cx="822960" cy="822960"/>
          </a:xfrm>
          <a:prstGeom prst="ellipse">
            <a:avLst/>
          </a:prstGeom>
          <a:solidFill>
            <a:schemeClr val="accent1"/>
          </a:solidFill>
          <a:ln/>
        </p:spPr>
      </p:sp>
      <p:pic>
        <p:nvPicPr>
          <p:cNvPr id="15" name="Ícono FaBoxOpen" descr="preencoded.png">    </p:cNvPr>
          <p:cNvPicPr>
            <a:picLocks noChangeAspect="1"/>
          </p:cNvPicPr>
          <p:nvPr/>
        </p:nvPicPr>
        <p:blipFill>
          <a:blip r:embed="rId3"/>
          <a:stretch>
            <a:fillRect/>
          </a:stretch>
        </p:blipFill>
        <p:spPr>
          <a:xfrm>
            <a:off x="1074420" y="4366260"/>
            <a:ext cx="411480" cy="411480"/>
          </a:xfrm>
          <a:prstGeom prst="rect">
            <a:avLst/>
          </a:prstGeom>
        </p:spPr>
      </p:pic>
      <p:sp>
        <p:nvSpPr>
          <p:cNvPr id="16" name="Text 11"/>
          <p:cNvSpPr txBox="1"/>
          <p:nvPr/>
        </p:nvSpPr>
        <p:spPr>
          <a:xfrm>
            <a:off x="1920240" y="4160520"/>
            <a:ext cx="3840480" cy="457200"/>
          </a:xfrm>
          <a:prstGeom prst="rect">
            <a:avLst/>
          </a:prstGeom>
          <a:noFill/>
          <a:ln/>
        </p:spPr>
        <p:txBody>
          <a:bodyPr wrap="square" lIns="0" tIns="0" rIns="0" bIns="0" rtlCol="0" anchor="t"/>
          <a:lstStyle/>
          <a:p>
            <a:pPr indent="0" marL="0">
              <a:buNone/>
            </a:pPr>
            <a:r>
              <a:rPr lang="en-US" sz="2000" b="1" dirty="0">
                <a:solidFill>
                  <a:schemeClr val="tx1"/>
                </a:solidFill>
              </a:rPr>
              <a:t>Modelos ya entrenados</a:t>
            </a:r>
            <a:endParaRPr lang="en-US" sz="2000" dirty="0"/>
          </a:p>
        </p:txBody>
      </p:sp>
      <p:sp>
        <p:nvSpPr>
          <p:cNvPr id="17" name="Text 12"/>
          <p:cNvSpPr txBox="1"/>
          <p:nvPr/>
        </p:nvSpPr>
        <p:spPr>
          <a:xfrm>
            <a:off x="1920240" y="4663440"/>
            <a:ext cx="3840480" cy="914400"/>
          </a:xfrm>
          <a:prstGeom prst="rect">
            <a:avLst/>
          </a:prstGeom>
          <a:noFill/>
          <a:ln/>
        </p:spPr>
        <p:txBody>
          <a:bodyPr wrap="square" lIns="0" tIns="0" rIns="0" bIns="0" rtlCol="0" anchor="t"/>
          <a:lstStyle/>
          <a:p>
            <a:pPr indent="0" marL="0">
              <a:buNone/>
            </a:pPr>
            <a:r>
              <a:rPr lang="en-US" sz="1600" dirty="0">
                <a:solidFill>
                  <a:schemeClr val="accent3"/>
                </a:solidFill>
              </a:rPr>
              <a:t>Manos, cuerpo, cara, imágenes y sonido listos para usar.</a:t>
            </a:r>
            <a:endParaRPr lang="en-US" sz="1600" dirty="0"/>
          </a:p>
        </p:txBody>
      </p:sp>
      <p:sp>
        <p:nvSpPr>
          <p:cNvPr id="18" name="Abierta y educativa"/>
          <p:cNvSpPr/>
          <p:nvPr/>
        </p:nvSpPr>
        <p:spPr>
          <a:xfrm>
            <a:off x="6172200" y="3840480"/>
            <a:ext cx="5440680" cy="1965960"/>
          </a:xfrm>
          <a:prstGeom prst="roundRect">
            <a:avLst>
              <a:gd name="adj" fmla="val 5581"/>
            </a:avLst>
          </a:prstGeom>
          <a:solidFill>
            <a:schemeClr val="bg2"/>
          </a:solidFill>
          <a:ln/>
        </p:spPr>
      </p:sp>
      <p:sp>
        <p:nvSpPr>
          <p:cNvPr id="19" name="Círculo FaGraduationCap"/>
          <p:cNvSpPr/>
          <p:nvPr/>
        </p:nvSpPr>
        <p:spPr>
          <a:xfrm>
            <a:off x="6492240" y="4160520"/>
            <a:ext cx="822960" cy="822960"/>
          </a:xfrm>
          <a:prstGeom prst="ellipse">
            <a:avLst/>
          </a:prstGeom>
          <a:solidFill>
            <a:schemeClr val="accent1"/>
          </a:solidFill>
          <a:ln/>
        </p:spPr>
      </p:sp>
      <p:pic>
        <p:nvPicPr>
          <p:cNvPr id="20" name="Ícono FaGraduationCap" descr="preencoded.png">    </p:cNvPr>
          <p:cNvPicPr>
            <a:picLocks noChangeAspect="1"/>
          </p:cNvPicPr>
          <p:nvPr/>
        </p:nvPicPr>
        <p:blipFill>
          <a:blip r:embed="rId4"/>
          <a:stretch>
            <a:fillRect/>
          </a:stretch>
        </p:blipFill>
        <p:spPr>
          <a:xfrm>
            <a:off x="6697980" y="4366260"/>
            <a:ext cx="411480" cy="411480"/>
          </a:xfrm>
          <a:prstGeom prst="rect">
            <a:avLst/>
          </a:prstGeom>
        </p:spPr>
      </p:pic>
      <p:sp>
        <p:nvSpPr>
          <p:cNvPr id="21" name="Text 15"/>
          <p:cNvSpPr txBox="1"/>
          <p:nvPr/>
        </p:nvSpPr>
        <p:spPr>
          <a:xfrm>
            <a:off x="7543800" y="4160520"/>
            <a:ext cx="3840480" cy="457200"/>
          </a:xfrm>
          <a:prstGeom prst="rect">
            <a:avLst/>
          </a:prstGeom>
          <a:noFill/>
          <a:ln/>
        </p:spPr>
        <p:txBody>
          <a:bodyPr wrap="square" lIns="0" tIns="0" rIns="0" bIns="0" rtlCol="0" anchor="t"/>
          <a:lstStyle/>
          <a:p>
            <a:pPr indent="0" marL="0">
              <a:buNone/>
            </a:pPr>
            <a:r>
              <a:rPr lang="en-US" sz="2000" b="1" dirty="0">
                <a:solidFill>
                  <a:schemeClr val="tx1"/>
                </a:solidFill>
              </a:rPr>
              <a:t>Abierta y educativa</a:t>
            </a:r>
            <a:endParaRPr lang="en-US" sz="2000" dirty="0"/>
          </a:p>
        </p:txBody>
      </p:sp>
      <p:sp>
        <p:nvSpPr>
          <p:cNvPr id="22" name="Text 16"/>
          <p:cNvSpPr txBox="1"/>
          <p:nvPr/>
        </p:nvSpPr>
        <p:spPr>
          <a:xfrm>
            <a:off x="7543800" y="4663440"/>
            <a:ext cx="3840480" cy="914400"/>
          </a:xfrm>
          <a:prstGeom prst="rect">
            <a:avLst/>
          </a:prstGeom>
          <a:noFill/>
          <a:ln/>
        </p:spPr>
        <p:txBody>
          <a:bodyPr wrap="square" lIns="0" tIns="0" rIns="0" bIns="0" rtlCol="0" anchor="t"/>
          <a:lstStyle/>
          <a:p>
            <a:pPr indent="0" marL="0">
              <a:buNone/>
            </a:pPr>
            <a:r>
              <a:rPr lang="en-US" sz="1600" dirty="0">
                <a:solidFill>
                  <a:schemeClr val="accent3"/>
                </a:solidFill>
              </a:rPr>
              <a:t>Código abierto (MIT), creada en NYU para estudiantes y artistas.</a:t>
            </a:r>
            <a:endParaRPr lang="en-US" sz="16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94415" cy="822960"/>
          </a:xfrm>
          <a:prstGeom prst="rect">
            <a:avLst/>
          </a:prstGeom>
          <a:noFill/>
          <a:ln/>
        </p:spPr>
        <p:txBody>
          <a:bodyPr wrap="square" lIns="0" tIns="0" rIns="0" bIns="0" rtlCol="0" anchor="ctr"/>
          <a:lstStyle/>
          <a:p>
            <a:pPr indent="0" marL="0">
              <a:buNone/>
            </a:pPr>
            <a:r>
              <a:rPr lang="en-US" sz="3600" b="1" dirty="0">
                <a:solidFill>
                  <a:schemeClr val="tx1"/>
                </a:solidFill>
              </a:rPr>
              <a:t>Cómo está armado por dentro</a:t>
            </a:r>
            <a:endParaRPr lang="en-US" sz="3600" dirty="0"/>
          </a:p>
        </p:txBody>
      </p:sp>
      <p:sp>
        <p:nvSpPr>
          <p:cNvPr id="3" name="Capa Tu programa"/>
          <p:cNvSpPr/>
          <p:nvPr/>
        </p:nvSpPr>
        <p:spPr>
          <a:xfrm>
            <a:off x="548640" y="1600200"/>
            <a:ext cx="6766560" cy="914400"/>
          </a:xfrm>
          <a:prstGeom prst="roundRect">
            <a:avLst>
              <a:gd name="adj" fmla="val 12000"/>
            </a:avLst>
          </a:prstGeom>
          <a:solidFill>
            <a:schemeClr val="accent1"/>
          </a:solidFill>
          <a:ln/>
        </p:spPr>
      </p:sp>
      <p:sp>
        <p:nvSpPr>
          <p:cNvPr id="4" name="Text 2"/>
          <p:cNvSpPr txBox="1"/>
          <p:nvPr/>
        </p:nvSpPr>
        <p:spPr>
          <a:xfrm>
            <a:off x="868680" y="1600200"/>
            <a:ext cx="2377440" cy="914400"/>
          </a:xfrm>
          <a:prstGeom prst="rect">
            <a:avLst/>
          </a:prstGeom>
          <a:noFill/>
          <a:ln/>
        </p:spPr>
        <p:txBody>
          <a:bodyPr wrap="square" lIns="0" tIns="0" rIns="0" bIns="0" rtlCol="0" anchor="ctr"/>
          <a:lstStyle/>
          <a:p>
            <a:pPr indent="0" marL="0">
              <a:buNone/>
            </a:pPr>
            <a:r>
              <a:rPr lang="en-US" sz="2000" b="1" dirty="0">
                <a:solidFill>
                  <a:schemeClr val="bg1"/>
                </a:solidFill>
              </a:rPr>
              <a:t>Tu programa</a:t>
            </a:r>
            <a:endParaRPr lang="en-US" sz="2000" dirty="0"/>
          </a:p>
        </p:txBody>
      </p:sp>
      <p:sp>
        <p:nvSpPr>
          <p:cNvPr id="5" name="Text 3"/>
          <p:cNvSpPr txBox="1"/>
          <p:nvPr/>
        </p:nvSpPr>
        <p:spPr>
          <a:xfrm>
            <a:off x="3291840" y="1600200"/>
            <a:ext cx="3840480" cy="914400"/>
          </a:xfrm>
          <a:prstGeom prst="rect">
            <a:avLst/>
          </a:prstGeom>
          <a:noFill/>
          <a:ln/>
        </p:spPr>
        <p:txBody>
          <a:bodyPr wrap="square" lIns="0" tIns="0" rIns="0" bIns="0" rtlCol="0" anchor="ctr"/>
          <a:lstStyle/>
          <a:p>
            <a:pPr indent="0" marL="0">
              <a:buNone/>
            </a:pPr>
            <a:r>
              <a:rPr lang="en-US" sz="1500" dirty="0">
                <a:solidFill>
                  <a:schemeClr val="bg1"/>
                </a:solidFill>
              </a:rPr>
              <a:t>Decide qué hacer con lo que el modelo ve</a:t>
            </a:r>
            <a:endParaRPr lang="en-US" sz="1500" dirty="0"/>
          </a:p>
        </p:txBody>
      </p:sp>
      <p:sp>
        <p:nvSpPr>
          <p:cNvPr id="6" name="Capa ml5.js"/>
          <p:cNvSpPr/>
          <p:nvPr/>
        </p:nvSpPr>
        <p:spPr>
          <a:xfrm>
            <a:off x="548640" y="2679192"/>
            <a:ext cx="6766560" cy="914400"/>
          </a:xfrm>
          <a:prstGeom prst="roundRect">
            <a:avLst>
              <a:gd name="adj" fmla="val 12000"/>
            </a:avLst>
          </a:prstGeom>
          <a:solidFill>
            <a:schemeClr val="tx1"/>
          </a:solidFill>
          <a:ln/>
        </p:spPr>
      </p:sp>
      <p:sp>
        <p:nvSpPr>
          <p:cNvPr id="7" name="Text 5"/>
          <p:cNvSpPr txBox="1"/>
          <p:nvPr/>
        </p:nvSpPr>
        <p:spPr>
          <a:xfrm>
            <a:off x="868680" y="2679192"/>
            <a:ext cx="2377440" cy="914400"/>
          </a:xfrm>
          <a:prstGeom prst="rect">
            <a:avLst/>
          </a:prstGeom>
          <a:noFill/>
          <a:ln/>
        </p:spPr>
        <p:txBody>
          <a:bodyPr wrap="square" lIns="0" tIns="0" rIns="0" bIns="0" rtlCol="0" anchor="ctr"/>
          <a:lstStyle/>
          <a:p>
            <a:pPr indent="0" marL="0">
              <a:buNone/>
            </a:pPr>
            <a:r>
              <a:rPr lang="en-US" sz="2000" b="1" dirty="0">
                <a:solidFill>
                  <a:schemeClr val="accent2"/>
                </a:solidFill>
              </a:rPr>
              <a:t>ml5.js</a:t>
            </a:r>
            <a:endParaRPr lang="en-US" sz="2000" dirty="0"/>
          </a:p>
        </p:txBody>
      </p:sp>
      <p:sp>
        <p:nvSpPr>
          <p:cNvPr id="8" name="Text 6"/>
          <p:cNvSpPr txBox="1"/>
          <p:nvPr/>
        </p:nvSpPr>
        <p:spPr>
          <a:xfrm>
            <a:off x="3291840" y="2679192"/>
            <a:ext cx="3840480" cy="914400"/>
          </a:xfrm>
          <a:prstGeom prst="rect">
            <a:avLst/>
          </a:prstGeom>
          <a:noFill/>
          <a:ln/>
        </p:spPr>
        <p:txBody>
          <a:bodyPr wrap="square" lIns="0" tIns="0" rIns="0" bIns="0" rtlCol="0" anchor="ctr"/>
          <a:lstStyle/>
          <a:p>
            <a:pPr indent="0" marL="0">
              <a:buNone/>
            </a:pPr>
            <a:r>
              <a:rPr lang="en-US" sz="1500" dirty="0">
                <a:solidFill>
                  <a:schemeClr val="accent2"/>
                </a:solidFill>
              </a:rPr>
              <a:t>Ofrece funciones simples: “dame las manos de este video”</a:t>
            </a:r>
            <a:endParaRPr lang="en-US" sz="1500" dirty="0"/>
          </a:p>
        </p:txBody>
      </p:sp>
      <p:sp>
        <p:nvSpPr>
          <p:cNvPr id="9" name="Capa TensorFlow.js"/>
          <p:cNvSpPr/>
          <p:nvPr/>
        </p:nvSpPr>
        <p:spPr>
          <a:xfrm>
            <a:off x="548640" y="3758184"/>
            <a:ext cx="6766560" cy="914400"/>
          </a:xfrm>
          <a:prstGeom prst="roundRect">
            <a:avLst>
              <a:gd name="adj" fmla="val 12000"/>
            </a:avLst>
          </a:prstGeom>
          <a:solidFill>
            <a:schemeClr val="bg2"/>
          </a:solidFill>
          <a:ln/>
        </p:spPr>
      </p:sp>
      <p:sp>
        <p:nvSpPr>
          <p:cNvPr id="10" name="Text 8"/>
          <p:cNvSpPr txBox="1"/>
          <p:nvPr/>
        </p:nvSpPr>
        <p:spPr>
          <a:xfrm>
            <a:off x="868680" y="3758184"/>
            <a:ext cx="2377440" cy="914400"/>
          </a:xfrm>
          <a:prstGeom prst="rect">
            <a:avLst/>
          </a:prstGeom>
          <a:noFill/>
          <a:ln/>
        </p:spPr>
        <p:txBody>
          <a:bodyPr wrap="square" lIns="0" tIns="0" rIns="0" bIns="0" rtlCol="0" anchor="ctr"/>
          <a:lstStyle/>
          <a:p>
            <a:pPr indent="0" marL="0">
              <a:buNone/>
            </a:pPr>
            <a:r>
              <a:rPr lang="en-US" sz="2000" b="1" dirty="0">
                <a:solidFill>
                  <a:schemeClr val="tx1"/>
                </a:solidFill>
              </a:rPr>
              <a:t>TensorFlow.js</a:t>
            </a:r>
            <a:endParaRPr lang="en-US" sz="2000" dirty="0"/>
          </a:p>
        </p:txBody>
      </p:sp>
      <p:sp>
        <p:nvSpPr>
          <p:cNvPr id="11" name="Text 9"/>
          <p:cNvSpPr txBox="1"/>
          <p:nvPr/>
        </p:nvSpPr>
        <p:spPr>
          <a:xfrm>
            <a:off x="3291840" y="3758184"/>
            <a:ext cx="3840480" cy="914400"/>
          </a:xfrm>
          <a:prstGeom prst="rect">
            <a:avLst/>
          </a:prstGeom>
          <a:noFill/>
          <a:ln/>
        </p:spPr>
        <p:txBody>
          <a:bodyPr wrap="square" lIns="0" tIns="0" rIns="0" bIns="0" rtlCol="0" anchor="ctr"/>
          <a:lstStyle/>
          <a:p>
            <a:pPr indent="0" marL="0">
              <a:buNone/>
            </a:pPr>
            <a:r>
              <a:rPr lang="en-US" sz="1500" dirty="0">
                <a:solidFill>
                  <a:schemeClr val="accent3"/>
                </a:solidFill>
              </a:rPr>
              <a:t>Ejecuta la red neuronal con operaciones matemáticas</a:t>
            </a:r>
            <a:endParaRPr lang="en-US" sz="1500" dirty="0"/>
          </a:p>
        </p:txBody>
      </p:sp>
      <p:sp>
        <p:nvSpPr>
          <p:cNvPr id="12" name="Capa La GPU del equipo"/>
          <p:cNvSpPr/>
          <p:nvPr/>
        </p:nvSpPr>
        <p:spPr>
          <a:xfrm>
            <a:off x="548640" y="4837176"/>
            <a:ext cx="6766560" cy="914400"/>
          </a:xfrm>
          <a:prstGeom prst="roundRect">
            <a:avLst>
              <a:gd name="adj" fmla="val 12000"/>
            </a:avLst>
          </a:prstGeom>
          <a:solidFill>
            <a:schemeClr val="bg2"/>
          </a:solidFill>
          <a:ln/>
        </p:spPr>
      </p:sp>
      <p:sp>
        <p:nvSpPr>
          <p:cNvPr id="13" name="Text 11"/>
          <p:cNvSpPr txBox="1"/>
          <p:nvPr/>
        </p:nvSpPr>
        <p:spPr>
          <a:xfrm>
            <a:off x="868680" y="4837176"/>
            <a:ext cx="2377440" cy="914400"/>
          </a:xfrm>
          <a:prstGeom prst="rect">
            <a:avLst/>
          </a:prstGeom>
          <a:noFill/>
          <a:ln/>
        </p:spPr>
        <p:txBody>
          <a:bodyPr wrap="square" lIns="0" tIns="0" rIns="0" bIns="0" rtlCol="0" anchor="ctr"/>
          <a:lstStyle/>
          <a:p>
            <a:pPr indent="0" marL="0">
              <a:buNone/>
            </a:pPr>
            <a:r>
              <a:rPr lang="en-US" sz="2000" b="1" dirty="0">
                <a:solidFill>
                  <a:schemeClr val="tx1"/>
                </a:solidFill>
              </a:rPr>
              <a:t>La GPU del equipo</a:t>
            </a:r>
            <a:endParaRPr lang="en-US" sz="2000" dirty="0"/>
          </a:p>
        </p:txBody>
      </p:sp>
      <p:sp>
        <p:nvSpPr>
          <p:cNvPr id="14" name="Text 12"/>
          <p:cNvSpPr txBox="1"/>
          <p:nvPr/>
        </p:nvSpPr>
        <p:spPr>
          <a:xfrm>
            <a:off x="3291840" y="4837176"/>
            <a:ext cx="3840480" cy="914400"/>
          </a:xfrm>
          <a:prstGeom prst="rect">
            <a:avLst/>
          </a:prstGeom>
          <a:noFill/>
          <a:ln/>
        </p:spPr>
        <p:txBody>
          <a:bodyPr wrap="square" lIns="0" tIns="0" rIns="0" bIns="0" rtlCol="0" anchor="ctr"/>
          <a:lstStyle/>
          <a:p>
            <a:pPr indent="0" marL="0">
              <a:buNone/>
            </a:pPr>
            <a:r>
              <a:rPr lang="en-US" sz="1500" dirty="0">
                <a:solidFill>
                  <a:schemeClr val="accent3"/>
                </a:solidFill>
              </a:rPr>
              <a:t>Hace millones de cálculos por segundo (WebGPU o WebGL)</a:t>
            </a:r>
            <a:endParaRPr lang="en-US" sz="1500" dirty="0"/>
          </a:p>
        </p:txBody>
      </p:sp>
      <p:sp>
        <p:nvSpPr>
          <p:cNvPr id="15" name="Text 13"/>
          <p:cNvSpPr txBox="1"/>
          <p:nvPr/>
        </p:nvSpPr>
        <p:spPr>
          <a:xfrm>
            <a:off x="7772400" y="1737360"/>
            <a:ext cx="3840480" cy="914400"/>
          </a:xfrm>
          <a:prstGeom prst="rect">
            <a:avLst/>
          </a:prstGeom>
          <a:noFill/>
          <a:ln/>
        </p:spPr>
        <p:txBody>
          <a:bodyPr wrap="square" lIns="0" tIns="0" rIns="0" bIns="0" rtlCol="0" anchor="t"/>
          <a:lstStyle/>
          <a:p>
            <a:pPr indent="0" marL="0">
              <a:buNone/>
            </a:pPr>
            <a:r>
              <a:rPr lang="en-US" sz="2200" b="1" dirty="0">
                <a:solidFill>
                  <a:schemeClr val="tx1"/>
                </a:solidFill>
              </a:rPr>
              <a:t>Cada capa esconde la complejidad de la de abajo.</a:t>
            </a:r>
            <a:endParaRPr lang="en-US" sz="2200" dirty="0"/>
          </a:p>
        </p:txBody>
      </p:sp>
      <p:sp>
        <p:nvSpPr>
          <p:cNvPr id="16" name="Text 14"/>
          <p:cNvSpPr txBox="1"/>
          <p:nvPr/>
        </p:nvSpPr>
        <p:spPr>
          <a:xfrm>
            <a:off x="7772400" y="2743200"/>
            <a:ext cx="3840480" cy="2011680"/>
          </a:xfrm>
          <a:prstGeom prst="rect">
            <a:avLst/>
          </a:prstGeom>
          <a:noFill/>
          <a:ln/>
        </p:spPr>
        <p:txBody>
          <a:bodyPr wrap="square" lIns="0" tIns="0" rIns="0" bIns="0" rtlCol="0" anchor="t"/>
          <a:lstStyle/>
          <a:p>
            <a:pPr indent="0" marL="0">
              <a:buNone/>
            </a:pPr>
            <a:r>
              <a:rPr lang="en-US" sz="1600" dirty="0">
                <a:solidFill>
                  <a:schemeClr val="accent3"/>
                </a:solidFill>
              </a:rPr>
              <a:t>Por eso, con pocas líneas de código, una página web puede reconocer una mano en tiempo real, sin enviar la imagen a ningún servidor.</a:t>
            </a:r>
            <a:endParaRPr lang="en-US" sz="16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94415" cy="822960"/>
          </a:xfrm>
          <a:prstGeom prst="rect">
            <a:avLst/>
          </a:prstGeom>
          <a:noFill/>
          <a:ln/>
        </p:spPr>
        <p:txBody>
          <a:bodyPr wrap="square" lIns="0" tIns="0" rIns="0" bIns="0" rtlCol="0" anchor="ctr"/>
          <a:lstStyle/>
          <a:p>
            <a:pPr indent="0" marL="0">
              <a:buNone/>
            </a:pPr>
            <a:r>
              <a:rPr lang="en-US" sz="3600" b="1" dirty="0">
                <a:solidFill>
                  <a:schemeClr val="tx1"/>
                </a:solidFill>
              </a:rPr>
              <a:t>Qué puede reconocer</a:t>
            </a:r>
            <a:endParaRPr lang="en-US" sz="3600" dirty="0"/>
          </a:p>
        </p:txBody>
      </p:sp>
      <p:sp>
        <p:nvSpPr>
          <p:cNvPr id="3" name="Modelo Manos"/>
          <p:cNvSpPr/>
          <p:nvPr/>
        </p:nvSpPr>
        <p:spPr>
          <a:xfrm>
            <a:off x="548640" y="1600200"/>
            <a:ext cx="3520440" cy="1965960"/>
          </a:xfrm>
          <a:prstGeom prst="roundRect">
            <a:avLst>
              <a:gd name="adj" fmla="val 5581"/>
            </a:avLst>
          </a:prstGeom>
          <a:solidFill>
            <a:schemeClr val="tx1"/>
          </a:solidFill>
          <a:ln/>
        </p:spPr>
      </p:sp>
      <p:sp>
        <p:nvSpPr>
          <p:cNvPr id="4" name="Círculo FaHand"/>
          <p:cNvSpPr/>
          <p:nvPr/>
        </p:nvSpPr>
        <p:spPr>
          <a:xfrm>
            <a:off x="868680" y="1920240"/>
            <a:ext cx="731520" cy="731520"/>
          </a:xfrm>
          <a:prstGeom prst="ellipse">
            <a:avLst/>
          </a:prstGeom>
          <a:solidFill>
            <a:schemeClr val="accent2"/>
          </a:solidFill>
          <a:ln/>
        </p:spPr>
      </p:sp>
      <p:pic>
        <p:nvPicPr>
          <p:cNvPr id="5" name="Ícono FaHand" descr="preencoded.png">    </p:cNvPr>
          <p:cNvPicPr>
            <a:picLocks noChangeAspect="1"/>
          </p:cNvPicPr>
          <p:nvPr/>
        </p:nvPicPr>
        <p:blipFill>
          <a:blip r:embed="rId1"/>
          <a:stretch>
            <a:fillRect/>
          </a:stretch>
        </p:blipFill>
        <p:spPr>
          <a:xfrm>
            <a:off x="1051560" y="2103120"/>
            <a:ext cx="365760" cy="365760"/>
          </a:xfrm>
          <a:prstGeom prst="rect">
            <a:avLst/>
          </a:prstGeom>
        </p:spPr>
      </p:pic>
      <p:sp>
        <p:nvSpPr>
          <p:cNvPr id="6" name="Text 3"/>
          <p:cNvSpPr txBox="1"/>
          <p:nvPr/>
        </p:nvSpPr>
        <p:spPr>
          <a:xfrm>
            <a:off x="1783080" y="1965960"/>
            <a:ext cx="2103120" cy="457200"/>
          </a:xfrm>
          <a:prstGeom prst="rect">
            <a:avLst/>
          </a:prstGeom>
          <a:noFill/>
          <a:ln/>
        </p:spPr>
        <p:txBody>
          <a:bodyPr wrap="square" lIns="0" tIns="0" rIns="0" bIns="0" rtlCol="0" anchor="t"/>
          <a:lstStyle/>
          <a:p>
            <a:pPr indent="0" marL="0">
              <a:buNone/>
            </a:pPr>
            <a:r>
              <a:rPr lang="en-US" sz="2000" b="1" dirty="0">
                <a:solidFill>
                  <a:schemeClr val="bg1"/>
                </a:solidFill>
              </a:rPr>
              <a:t>Manos</a:t>
            </a:r>
            <a:endParaRPr lang="en-US" sz="2000" dirty="0"/>
          </a:p>
        </p:txBody>
      </p:sp>
      <p:sp>
        <p:nvSpPr>
          <p:cNvPr id="7" name="Text 4"/>
          <p:cNvSpPr txBox="1"/>
          <p:nvPr/>
        </p:nvSpPr>
        <p:spPr>
          <a:xfrm>
            <a:off x="868680" y="2788920"/>
            <a:ext cx="2926080" cy="640080"/>
          </a:xfrm>
          <a:prstGeom prst="rect">
            <a:avLst/>
          </a:prstGeom>
          <a:noFill/>
          <a:ln/>
        </p:spPr>
        <p:txBody>
          <a:bodyPr wrap="square" lIns="0" tIns="0" rIns="0" bIns="0" rtlCol="0" anchor="t"/>
          <a:lstStyle/>
          <a:p>
            <a:pPr indent="0" marL="0">
              <a:buNone/>
            </a:pPr>
            <a:r>
              <a:rPr lang="en-US" sz="1500" dirty="0">
                <a:solidFill>
                  <a:srgbClr val="E9DCCB"/>
                </a:solidFill>
              </a:rPr>
              <a:t>Gestos, conteo de dedos, lengua de señas</a:t>
            </a:r>
            <a:endParaRPr lang="en-US" sz="1500" dirty="0"/>
          </a:p>
        </p:txBody>
      </p:sp>
      <p:sp>
        <p:nvSpPr>
          <p:cNvPr id="8" name="Modelo Cuerpo"/>
          <p:cNvSpPr/>
          <p:nvPr/>
        </p:nvSpPr>
        <p:spPr>
          <a:xfrm>
            <a:off x="4297680" y="1600200"/>
            <a:ext cx="3520440" cy="1965960"/>
          </a:xfrm>
          <a:prstGeom prst="roundRect">
            <a:avLst>
              <a:gd name="adj" fmla="val 5581"/>
            </a:avLst>
          </a:prstGeom>
          <a:solidFill>
            <a:schemeClr val="bg2"/>
          </a:solidFill>
          <a:ln/>
        </p:spPr>
      </p:sp>
      <p:sp>
        <p:nvSpPr>
          <p:cNvPr id="9" name="Círculo FaPersonWalking"/>
          <p:cNvSpPr/>
          <p:nvPr/>
        </p:nvSpPr>
        <p:spPr>
          <a:xfrm>
            <a:off x="4617720" y="1920240"/>
            <a:ext cx="731520" cy="731520"/>
          </a:xfrm>
          <a:prstGeom prst="ellipse">
            <a:avLst/>
          </a:prstGeom>
          <a:solidFill>
            <a:schemeClr val="accent1"/>
          </a:solidFill>
          <a:ln/>
        </p:spPr>
      </p:sp>
      <p:pic>
        <p:nvPicPr>
          <p:cNvPr id="10" name="Ícono FaPersonWalking" descr="preencoded.png">    </p:cNvPr>
          <p:cNvPicPr>
            <a:picLocks noChangeAspect="1"/>
          </p:cNvPicPr>
          <p:nvPr/>
        </p:nvPicPr>
        <p:blipFill>
          <a:blip r:embed="rId2"/>
          <a:stretch>
            <a:fillRect/>
          </a:stretch>
        </p:blipFill>
        <p:spPr>
          <a:xfrm>
            <a:off x="4800600" y="2103120"/>
            <a:ext cx="365760" cy="365760"/>
          </a:xfrm>
          <a:prstGeom prst="rect">
            <a:avLst/>
          </a:prstGeom>
        </p:spPr>
      </p:pic>
      <p:sp>
        <p:nvSpPr>
          <p:cNvPr id="11" name="Text 7"/>
          <p:cNvSpPr txBox="1"/>
          <p:nvPr/>
        </p:nvSpPr>
        <p:spPr>
          <a:xfrm>
            <a:off x="5532120" y="1965960"/>
            <a:ext cx="2103120" cy="457200"/>
          </a:xfrm>
          <a:prstGeom prst="rect">
            <a:avLst/>
          </a:prstGeom>
          <a:noFill/>
          <a:ln/>
        </p:spPr>
        <p:txBody>
          <a:bodyPr wrap="square" lIns="0" tIns="0" rIns="0" bIns="0" rtlCol="0" anchor="t"/>
          <a:lstStyle/>
          <a:p>
            <a:pPr indent="0" marL="0">
              <a:buNone/>
            </a:pPr>
            <a:r>
              <a:rPr lang="en-US" sz="2000" b="1" dirty="0">
                <a:solidFill>
                  <a:schemeClr val="tx1"/>
                </a:solidFill>
              </a:rPr>
              <a:t>Cuerpo</a:t>
            </a:r>
            <a:endParaRPr lang="en-US" sz="2000" dirty="0"/>
          </a:p>
        </p:txBody>
      </p:sp>
      <p:sp>
        <p:nvSpPr>
          <p:cNvPr id="12" name="Text 8"/>
          <p:cNvSpPr txBox="1"/>
          <p:nvPr/>
        </p:nvSpPr>
        <p:spPr>
          <a:xfrm>
            <a:off x="4617720" y="2788920"/>
            <a:ext cx="2926080" cy="640080"/>
          </a:xfrm>
          <a:prstGeom prst="rect">
            <a:avLst/>
          </a:prstGeom>
          <a:noFill/>
          <a:ln/>
        </p:spPr>
        <p:txBody>
          <a:bodyPr wrap="square" lIns="0" tIns="0" rIns="0" bIns="0" rtlCol="0" anchor="t"/>
          <a:lstStyle/>
          <a:p>
            <a:pPr indent="0" marL="0">
              <a:buNone/>
            </a:pPr>
            <a:r>
              <a:rPr lang="en-US" sz="1500" dirty="0">
                <a:solidFill>
                  <a:schemeClr val="accent3"/>
                </a:solidFill>
              </a:rPr>
              <a:t>Posturas, ejercicio, baile</a:t>
            </a:r>
            <a:endParaRPr lang="en-US" sz="1500" dirty="0"/>
          </a:p>
        </p:txBody>
      </p:sp>
      <p:sp>
        <p:nvSpPr>
          <p:cNvPr id="13" name="Modelo Cara"/>
          <p:cNvSpPr/>
          <p:nvPr/>
        </p:nvSpPr>
        <p:spPr>
          <a:xfrm>
            <a:off x="8046720" y="1600200"/>
            <a:ext cx="3520440" cy="1965960"/>
          </a:xfrm>
          <a:prstGeom prst="roundRect">
            <a:avLst>
              <a:gd name="adj" fmla="val 5581"/>
            </a:avLst>
          </a:prstGeom>
          <a:solidFill>
            <a:schemeClr val="bg2"/>
          </a:solidFill>
          <a:ln/>
        </p:spPr>
      </p:sp>
      <p:sp>
        <p:nvSpPr>
          <p:cNvPr id="14" name="Círculo FaFaceSmile"/>
          <p:cNvSpPr/>
          <p:nvPr/>
        </p:nvSpPr>
        <p:spPr>
          <a:xfrm>
            <a:off x="8366760" y="1920240"/>
            <a:ext cx="731520" cy="731520"/>
          </a:xfrm>
          <a:prstGeom prst="ellipse">
            <a:avLst/>
          </a:prstGeom>
          <a:solidFill>
            <a:schemeClr val="accent1"/>
          </a:solidFill>
          <a:ln/>
        </p:spPr>
      </p:sp>
      <p:pic>
        <p:nvPicPr>
          <p:cNvPr id="15" name="Ícono FaFaceSmile" descr="preencoded.png">    </p:cNvPr>
          <p:cNvPicPr>
            <a:picLocks noChangeAspect="1"/>
          </p:cNvPicPr>
          <p:nvPr/>
        </p:nvPicPr>
        <p:blipFill>
          <a:blip r:embed="rId3"/>
          <a:stretch>
            <a:fillRect/>
          </a:stretch>
        </p:blipFill>
        <p:spPr>
          <a:xfrm>
            <a:off x="8549640" y="2103120"/>
            <a:ext cx="365760" cy="365760"/>
          </a:xfrm>
          <a:prstGeom prst="rect">
            <a:avLst/>
          </a:prstGeom>
        </p:spPr>
      </p:pic>
      <p:sp>
        <p:nvSpPr>
          <p:cNvPr id="16" name="Text 11"/>
          <p:cNvSpPr txBox="1"/>
          <p:nvPr/>
        </p:nvSpPr>
        <p:spPr>
          <a:xfrm>
            <a:off x="9281160" y="1965960"/>
            <a:ext cx="2103120" cy="457200"/>
          </a:xfrm>
          <a:prstGeom prst="rect">
            <a:avLst/>
          </a:prstGeom>
          <a:noFill/>
          <a:ln/>
        </p:spPr>
        <p:txBody>
          <a:bodyPr wrap="square" lIns="0" tIns="0" rIns="0" bIns="0" rtlCol="0" anchor="t"/>
          <a:lstStyle/>
          <a:p>
            <a:pPr indent="0" marL="0">
              <a:buNone/>
            </a:pPr>
            <a:r>
              <a:rPr lang="en-US" sz="2000" b="1" dirty="0">
                <a:solidFill>
                  <a:schemeClr val="tx1"/>
                </a:solidFill>
              </a:rPr>
              <a:t>Cara</a:t>
            </a:r>
            <a:endParaRPr lang="en-US" sz="2000" dirty="0"/>
          </a:p>
        </p:txBody>
      </p:sp>
      <p:sp>
        <p:nvSpPr>
          <p:cNvPr id="17" name="Text 12"/>
          <p:cNvSpPr txBox="1"/>
          <p:nvPr/>
        </p:nvSpPr>
        <p:spPr>
          <a:xfrm>
            <a:off x="8366760" y="2788920"/>
            <a:ext cx="2926080" cy="640080"/>
          </a:xfrm>
          <a:prstGeom prst="rect">
            <a:avLst/>
          </a:prstGeom>
          <a:noFill/>
          <a:ln/>
        </p:spPr>
        <p:txBody>
          <a:bodyPr wrap="square" lIns="0" tIns="0" rIns="0" bIns="0" rtlCol="0" anchor="t"/>
          <a:lstStyle/>
          <a:p>
            <a:pPr indent="0" marL="0">
              <a:buNone/>
            </a:pPr>
            <a:r>
              <a:rPr lang="en-US" sz="1500" dirty="0">
                <a:solidFill>
                  <a:schemeClr val="accent3"/>
                </a:solidFill>
              </a:rPr>
              <a:t>Expresiones, mirada, gestos con la cabeza</a:t>
            </a:r>
            <a:endParaRPr lang="en-US" sz="1500" dirty="0"/>
          </a:p>
        </p:txBody>
      </p:sp>
      <p:sp>
        <p:nvSpPr>
          <p:cNvPr id="18" name="Modelo Imágenes"/>
          <p:cNvSpPr/>
          <p:nvPr/>
        </p:nvSpPr>
        <p:spPr>
          <a:xfrm>
            <a:off x="548640" y="3840480"/>
            <a:ext cx="3520440" cy="1965960"/>
          </a:xfrm>
          <a:prstGeom prst="roundRect">
            <a:avLst>
              <a:gd name="adj" fmla="val 5581"/>
            </a:avLst>
          </a:prstGeom>
          <a:solidFill>
            <a:schemeClr val="bg2"/>
          </a:solidFill>
          <a:ln/>
        </p:spPr>
      </p:sp>
      <p:sp>
        <p:nvSpPr>
          <p:cNvPr id="19" name="Círculo FaImage"/>
          <p:cNvSpPr/>
          <p:nvPr/>
        </p:nvSpPr>
        <p:spPr>
          <a:xfrm>
            <a:off x="868680" y="4160520"/>
            <a:ext cx="731520" cy="731520"/>
          </a:xfrm>
          <a:prstGeom prst="ellipse">
            <a:avLst/>
          </a:prstGeom>
          <a:solidFill>
            <a:schemeClr val="accent1"/>
          </a:solidFill>
          <a:ln/>
        </p:spPr>
      </p:sp>
      <p:pic>
        <p:nvPicPr>
          <p:cNvPr id="20" name="Ícono FaImage" descr="preencoded.png">    </p:cNvPr>
          <p:cNvPicPr>
            <a:picLocks noChangeAspect="1"/>
          </p:cNvPicPr>
          <p:nvPr/>
        </p:nvPicPr>
        <p:blipFill>
          <a:blip r:embed="rId4"/>
          <a:stretch>
            <a:fillRect/>
          </a:stretch>
        </p:blipFill>
        <p:spPr>
          <a:xfrm>
            <a:off x="1051560" y="4343400"/>
            <a:ext cx="365760" cy="365760"/>
          </a:xfrm>
          <a:prstGeom prst="rect">
            <a:avLst/>
          </a:prstGeom>
        </p:spPr>
      </p:pic>
      <p:sp>
        <p:nvSpPr>
          <p:cNvPr id="21" name="Text 15"/>
          <p:cNvSpPr txBox="1"/>
          <p:nvPr/>
        </p:nvSpPr>
        <p:spPr>
          <a:xfrm>
            <a:off x="1783080" y="4206240"/>
            <a:ext cx="2103120" cy="457200"/>
          </a:xfrm>
          <a:prstGeom prst="rect">
            <a:avLst/>
          </a:prstGeom>
          <a:noFill/>
          <a:ln/>
        </p:spPr>
        <p:txBody>
          <a:bodyPr wrap="square" lIns="0" tIns="0" rIns="0" bIns="0" rtlCol="0" anchor="t"/>
          <a:lstStyle/>
          <a:p>
            <a:pPr indent="0" marL="0">
              <a:buNone/>
            </a:pPr>
            <a:r>
              <a:rPr lang="en-US" sz="2000" b="1" dirty="0">
                <a:solidFill>
                  <a:schemeClr val="tx1"/>
                </a:solidFill>
              </a:rPr>
              <a:t>Imágenes</a:t>
            </a:r>
            <a:endParaRPr lang="en-US" sz="2000" dirty="0"/>
          </a:p>
        </p:txBody>
      </p:sp>
      <p:sp>
        <p:nvSpPr>
          <p:cNvPr id="22" name="Text 16"/>
          <p:cNvSpPr txBox="1"/>
          <p:nvPr/>
        </p:nvSpPr>
        <p:spPr>
          <a:xfrm>
            <a:off x="868680" y="5029200"/>
            <a:ext cx="2926080" cy="640080"/>
          </a:xfrm>
          <a:prstGeom prst="rect">
            <a:avLst/>
          </a:prstGeom>
          <a:noFill/>
          <a:ln/>
        </p:spPr>
        <p:txBody>
          <a:bodyPr wrap="square" lIns="0" tIns="0" rIns="0" bIns="0" rtlCol="0" anchor="t"/>
          <a:lstStyle/>
          <a:p>
            <a:pPr indent="0" marL="0">
              <a:buNone/>
            </a:pPr>
            <a:r>
              <a:rPr lang="en-US" sz="1500" dirty="0">
                <a:solidFill>
                  <a:schemeClr val="accent3"/>
                </a:solidFill>
              </a:rPr>
              <a:t>Decir qué objeto aparece en una foto</a:t>
            </a:r>
            <a:endParaRPr lang="en-US" sz="1500" dirty="0"/>
          </a:p>
        </p:txBody>
      </p:sp>
      <p:sp>
        <p:nvSpPr>
          <p:cNvPr id="23" name="Modelo Sonido"/>
          <p:cNvSpPr/>
          <p:nvPr/>
        </p:nvSpPr>
        <p:spPr>
          <a:xfrm>
            <a:off x="4297680" y="3840480"/>
            <a:ext cx="3520440" cy="1965960"/>
          </a:xfrm>
          <a:prstGeom prst="roundRect">
            <a:avLst>
              <a:gd name="adj" fmla="val 5581"/>
            </a:avLst>
          </a:prstGeom>
          <a:solidFill>
            <a:schemeClr val="bg2"/>
          </a:solidFill>
          <a:ln/>
        </p:spPr>
      </p:sp>
      <p:sp>
        <p:nvSpPr>
          <p:cNvPr id="24" name="Círculo FaMicrophone"/>
          <p:cNvSpPr/>
          <p:nvPr/>
        </p:nvSpPr>
        <p:spPr>
          <a:xfrm>
            <a:off x="4617720" y="4160520"/>
            <a:ext cx="731520" cy="731520"/>
          </a:xfrm>
          <a:prstGeom prst="ellipse">
            <a:avLst/>
          </a:prstGeom>
          <a:solidFill>
            <a:schemeClr val="accent1"/>
          </a:solidFill>
          <a:ln/>
        </p:spPr>
      </p:sp>
      <p:pic>
        <p:nvPicPr>
          <p:cNvPr id="25" name="Ícono FaMicrophone" descr="preencoded.png">    </p:cNvPr>
          <p:cNvPicPr>
            <a:picLocks noChangeAspect="1"/>
          </p:cNvPicPr>
          <p:nvPr/>
        </p:nvPicPr>
        <p:blipFill>
          <a:blip r:embed="rId5"/>
          <a:stretch>
            <a:fillRect/>
          </a:stretch>
        </p:blipFill>
        <p:spPr>
          <a:xfrm>
            <a:off x="4800600" y="4343400"/>
            <a:ext cx="365760" cy="365760"/>
          </a:xfrm>
          <a:prstGeom prst="rect">
            <a:avLst/>
          </a:prstGeom>
        </p:spPr>
      </p:pic>
      <p:sp>
        <p:nvSpPr>
          <p:cNvPr id="26" name="Text 19"/>
          <p:cNvSpPr txBox="1"/>
          <p:nvPr/>
        </p:nvSpPr>
        <p:spPr>
          <a:xfrm>
            <a:off x="5532120" y="4206240"/>
            <a:ext cx="2103120" cy="457200"/>
          </a:xfrm>
          <a:prstGeom prst="rect">
            <a:avLst/>
          </a:prstGeom>
          <a:noFill/>
          <a:ln/>
        </p:spPr>
        <p:txBody>
          <a:bodyPr wrap="square" lIns="0" tIns="0" rIns="0" bIns="0" rtlCol="0" anchor="t"/>
          <a:lstStyle/>
          <a:p>
            <a:pPr indent="0" marL="0">
              <a:buNone/>
            </a:pPr>
            <a:r>
              <a:rPr lang="en-US" sz="2000" b="1" dirty="0">
                <a:solidFill>
                  <a:schemeClr val="tx1"/>
                </a:solidFill>
              </a:rPr>
              <a:t>Sonido</a:t>
            </a:r>
            <a:endParaRPr lang="en-US" sz="2000" dirty="0"/>
          </a:p>
        </p:txBody>
      </p:sp>
      <p:sp>
        <p:nvSpPr>
          <p:cNvPr id="27" name="Text 20"/>
          <p:cNvSpPr txBox="1"/>
          <p:nvPr/>
        </p:nvSpPr>
        <p:spPr>
          <a:xfrm>
            <a:off x="4617720" y="5029200"/>
            <a:ext cx="2926080" cy="640080"/>
          </a:xfrm>
          <a:prstGeom prst="rect">
            <a:avLst/>
          </a:prstGeom>
          <a:noFill/>
          <a:ln/>
        </p:spPr>
        <p:txBody>
          <a:bodyPr wrap="square" lIns="0" tIns="0" rIns="0" bIns="0" rtlCol="0" anchor="t"/>
          <a:lstStyle/>
          <a:p>
            <a:pPr indent="0" marL="0">
              <a:buNone/>
            </a:pPr>
            <a:r>
              <a:rPr lang="en-US" sz="1500" dirty="0">
                <a:solidFill>
                  <a:schemeClr val="accent3"/>
                </a:solidFill>
              </a:rPr>
              <a:t>Palabras cortas o sonidos del micrófono</a:t>
            </a:r>
            <a:endParaRPr lang="en-US" sz="1500" dirty="0"/>
          </a:p>
        </p:txBody>
      </p:sp>
      <p:sp>
        <p:nvSpPr>
          <p:cNvPr id="28" name="Modelo Tu propia red"/>
          <p:cNvSpPr/>
          <p:nvPr/>
        </p:nvSpPr>
        <p:spPr>
          <a:xfrm>
            <a:off x="8046720" y="3840480"/>
            <a:ext cx="3520440" cy="1965960"/>
          </a:xfrm>
          <a:prstGeom prst="roundRect">
            <a:avLst>
              <a:gd name="adj" fmla="val 5581"/>
            </a:avLst>
          </a:prstGeom>
          <a:solidFill>
            <a:schemeClr val="bg2"/>
          </a:solidFill>
          <a:ln/>
        </p:spPr>
      </p:sp>
      <p:sp>
        <p:nvSpPr>
          <p:cNvPr id="29" name="Círculo FaDiagramProject"/>
          <p:cNvSpPr/>
          <p:nvPr/>
        </p:nvSpPr>
        <p:spPr>
          <a:xfrm>
            <a:off x="8366760" y="4160520"/>
            <a:ext cx="731520" cy="731520"/>
          </a:xfrm>
          <a:prstGeom prst="ellipse">
            <a:avLst/>
          </a:prstGeom>
          <a:solidFill>
            <a:schemeClr val="accent1"/>
          </a:solidFill>
          <a:ln/>
        </p:spPr>
      </p:sp>
      <p:pic>
        <p:nvPicPr>
          <p:cNvPr id="30" name="Ícono FaDiagramProject" descr="preencoded.png">    </p:cNvPr>
          <p:cNvPicPr>
            <a:picLocks noChangeAspect="1"/>
          </p:cNvPicPr>
          <p:nvPr/>
        </p:nvPicPr>
        <p:blipFill>
          <a:blip r:embed="rId6"/>
          <a:stretch>
            <a:fillRect/>
          </a:stretch>
        </p:blipFill>
        <p:spPr>
          <a:xfrm>
            <a:off x="8549640" y="4343400"/>
            <a:ext cx="365760" cy="365760"/>
          </a:xfrm>
          <a:prstGeom prst="rect">
            <a:avLst/>
          </a:prstGeom>
        </p:spPr>
      </p:pic>
      <p:sp>
        <p:nvSpPr>
          <p:cNvPr id="31" name="Text 23"/>
          <p:cNvSpPr txBox="1"/>
          <p:nvPr/>
        </p:nvSpPr>
        <p:spPr>
          <a:xfrm>
            <a:off x="9281160" y="4206240"/>
            <a:ext cx="2103120" cy="457200"/>
          </a:xfrm>
          <a:prstGeom prst="rect">
            <a:avLst/>
          </a:prstGeom>
          <a:noFill/>
          <a:ln/>
        </p:spPr>
        <p:txBody>
          <a:bodyPr wrap="square" lIns="0" tIns="0" rIns="0" bIns="0" rtlCol="0" anchor="t"/>
          <a:lstStyle/>
          <a:p>
            <a:pPr indent="0" marL="0">
              <a:buNone/>
            </a:pPr>
            <a:r>
              <a:rPr lang="en-US" sz="2000" b="1" dirty="0">
                <a:solidFill>
                  <a:schemeClr val="tx1"/>
                </a:solidFill>
              </a:rPr>
              <a:t>Tu propia red</a:t>
            </a:r>
            <a:endParaRPr lang="en-US" sz="2000" dirty="0"/>
          </a:p>
        </p:txBody>
      </p:sp>
      <p:sp>
        <p:nvSpPr>
          <p:cNvPr id="32" name="Text 24"/>
          <p:cNvSpPr txBox="1"/>
          <p:nvPr/>
        </p:nvSpPr>
        <p:spPr>
          <a:xfrm>
            <a:off x="8366760" y="5029200"/>
            <a:ext cx="2926080" cy="640080"/>
          </a:xfrm>
          <a:prstGeom prst="rect">
            <a:avLst/>
          </a:prstGeom>
          <a:noFill/>
          <a:ln/>
        </p:spPr>
        <p:txBody>
          <a:bodyPr wrap="square" lIns="0" tIns="0" rIns="0" bIns="0" rtlCol="0" anchor="t"/>
          <a:lstStyle/>
          <a:p>
            <a:pPr indent="0" marL="0">
              <a:buNone/>
            </a:pPr>
            <a:r>
              <a:rPr lang="en-US" sz="1500" dirty="0">
                <a:solidFill>
                  <a:schemeClr val="accent3"/>
                </a:solidFill>
              </a:rPr>
              <a:t>Entrenar con tus datos y tus ejemplos</a:t>
            </a:r>
            <a:endParaRPr lang="en-US" sz="1500" dirty="0"/>
          </a:p>
        </p:txBody>
      </p:sp>
      <p:sp>
        <p:nvSpPr>
          <p:cNvPr id="33" name="Text 25"/>
          <p:cNvSpPr txBox="1"/>
          <p:nvPr/>
        </p:nvSpPr>
        <p:spPr>
          <a:xfrm>
            <a:off x="548640" y="6035040"/>
            <a:ext cx="8229600" cy="274320"/>
          </a:xfrm>
          <a:prstGeom prst="rect">
            <a:avLst/>
          </a:prstGeom>
          <a:noFill/>
          <a:ln/>
        </p:spPr>
        <p:txBody>
          <a:bodyPr wrap="square" lIns="0" tIns="0" rIns="0" bIns="0" rtlCol="0" anchor="t"/>
          <a:lstStyle/>
          <a:p>
            <a:pPr indent="0" marL="0">
              <a:buNone/>
            </a:pPr>
            <a:r>
              <a:rPr lang="en-US" sz="1200" i="1" dirty="0">
                <a:solidFill>
                  <a:schemeClr val="accent3"/>
                </a:solidFill>
              </a:rPr>
              <a:t>Resaltado: el modelo de manos (handPose), el que usamos en el proyecto.</a:t>
            </a:r>
            <a:endParaRPr lang="en-US" sz="12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94415" cy="822960"/>
          </a:xfrm>
          <a:prstGeom prst="rect">
            <a:avLst/>
          </a:prstGeom>
          <a:noFill/>
          <a:ln/>
        </p:spPr>
        <p:txBody>
          <a:bodyPr wrap="square" lIns="0" tIns="0" rIns="0" bIns="0" rtlCol="0" anchor="ctr"/>
          <a:lstStyle/>
          <a:p>
            <a:pPr indent="0" marL="0">
              <a:buNone/>
            </a:pPr>
            <a:r>
              <a:rPr lang="en-US" sz="3600" b="1" dirty="0">
                <a:solidFill>
                  <a:schemeClr val="tx1"/>
                </a:solidFill>
              </a:rPr>
              <a:t>Cómo “ve” una mano</a:t>
            </a:r>
            <a:endParaRPr lang="en-US" sz="3600" dirty="0"/>
          </a:p>
        </p:txBody>
      </p:sp>
      <p:sp>
        <p:nvSpPr>
          <p:cNvPr id="3" name="Fondo diagrama"/>
          <p:cNvSpPr/>
          <p:nvPr/>
        </p:nvSpPr>
        <p:spPr>
          <a:xfrm>
            <a:off x="548640" y="1463040"/>
            <a:ext cx="4206240" cy="4572000"/>
          </a:xfrm>
          <a:prstGeom prst="roundRect">
            <a:avLst>
              <a:gd name="adj" fmla="val 2609"/>
            </a:avLst>
          </a:prstGeom>
          <a:solidFill>
            <a:schemeClr val="bg2"/>
          </a:solidFill>
          <a:ln/>
        </p:spPr>
      </p:sp>
      <p:pic>
        <p:nvPicPr>
          <p:cNvPr id="4" name="Diagrama mano" descr="Esquema de una mano con 21 puntos: la muñeca abajo y cuatro puntos por dedo, unidos por líneas">    </p:cNvPr>
          <p:cNvPicPr>
            <a:picLocks noChangeAspect="1"/>
          </p:cNvPicPr>
          <p:nvPr/>
        </p:nvPicPr>
        <p:blipFill>
          <a:blip r:embed="rId1"/>
          <a:stretch>
            <a:fillRect/>
          </a:stretch>
        </p:blipFill>
        <p:spPr>
          <a:xfrm>
            <a:off x="1051560" y="1600200"/>
            <a:ext cx="3200400" cy="3657600"/>
          </a:xfrm>
          <a:prstGeom prst="rect">
            <a:avLst/>
          </a:prstGeom>
        </p:spPr>
      </p:pic>
      <p:sp>
        <p:nvSpPr>
          <p:cNvPr id="5" name="Text 2"/>
          <p:cNvSpPr txBox="1"/>
          <p:nvPr/>
        </p:nvSpPr>
        <p:spPr>
          <a:xfrm>
            <a:off x="548640" y="5394960"/>
            <a:ext cx="4206240" cy="457200"/>
          </a:xfrm>
          <a:prstGeom prst="rect">
            <a:avLst/>
          </a:prstGeom>
          <a:noFill/>
          <a:ln/>
        </p:spPr>
        <p:txBody>
          <a:bodyPr wrap="square" lIns="0" tIns="0" rIns="0" bIns="0" rtlCol="0" anchor="t"/>
          <a:lstStyle/>
          <a:p>
            <a:pPr algn="ctr" indent="0" marL="0">
              <a:buNone/>
            </a:pPr>
            <a:r>
              <a:rPr lang="en-US" sz="1600" b="1" dirty="0">
                <a:solidFill>
                  <a:schemeClr val="tx1"/>
                </a:solidFill>
              </a:rPr>
              <a:t>21 puntos por mano</a:t>
            </a:r>
            <a:endParaRPr lang="en-US" sz="1600" dirty="0"/>
          </a:p>
        </p:txBody>
      </p:sp>
      <p:sp>
        <p:nvSpPr>
          <p:cNvPr id="6" name="Número 1"/>
          <p:cNvSpPr/>
          <p:nvPr/>
        </p:nvSpPr>
        <p:spPr>
          <a:xfrm>
            <a:off x="5212080" y="1508760"/>
            <a:ext cx="594360" cy="594360"/>
          </a:xfrm>
          <a:prstGeom prst="ellipse">
            <a:avLst/>
          </a:prstGeom>
          <a:solidFill>
            <a:schemeClr val="accent1"/>
          </a:solidFill>
          <a:ln/>
        </p:spPr>
      </p:sp>
      <p:sp>
        <p:nvSpPr>
          <p:cNvPr id="7" name="Text 4"/>
          <p:cNvSpPr txBox="1"/>
          <p:nvPr/>
        </p:nvSpPr>
        <p:spPr>
          <a:xfrm>
            <a:off x="5212080" y="150876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8" name="Text 5"/>
          <p:cNvSpPr txBox="1"/>
          <p:nvPr/>
        </p:nvSpPr>
        <p:spPr>
          <a:xfrm>
            <a:off x="6035040" y="1508760"/>
            <a:ext cx="5577840" cy="411480"/>
          </a:xfrm>
          <a:prstGeom prst="rect">
            <a:avLst/>
          </a:prstGeom>
          <a:noFill/>
          <a:ln/>
        </p:spPr>
        <p:txBody>
          <a:bodyPr wrap="square" lIns="0" tIns="0" rIns="0" bIns="0" rtlCol="0" anchor="t"/>
          <a:lstStyle/>
          <a:p>
            <a:pPr indent="0" marL="0">
              <a:buNone/>
            </a:pPr>
            <a:r>
              <a:rPr lang="en-US" sz="2000" b="1" dirty="0">
                <a:solidFill>
                  <a:schemeClr val="tx1"/>
                </a:solidFill>
              </a:rPr>
              <a:t>Encuentra la palma</a:t>
            </a:r>
            <a:endParaRPr lang="en-US" sz="2000" dirty="0"/>
          </a:p>
        </p:txBody>
      </p:sp>
      <p:sp>
        <p:nvSpPr>
          <p:cNvPr id="9" name="Text 6"/>
          <p:cNvSpPr txBox="1"/>
          <p:nvPr/>
        </p:nvSpPr>
        <p:spPr>
          <a:xfrm>
            <a:off x="6035040" y="1920240"/>
            <a:ext cx="5577840" cy="731520"/>
          </a:xfrm>
          <a:prstGeom prst="rect">
            <a:avLst/>
          </a:prstGeom>
          <a:noFill/>
          <a:ln/>
        </p:spPr>
        <p:txBody>
          <a:bodyPr wrap="square" lIns="0" tIns="0" rIns="0" bIns="0" rtlCol="0" anchor="t"/>
          <a:lstStyle/>
          <a:p>
            <a:pPr indent="0" marL="0">
              <a:buNone/>
            </a:pPr>
            <a:r>
              <a:rPr lang="en-US" sz="1600" dirty="0">
                <a:solidFill>
                  <a:schemeClr val="accent3"/>
                </a:solidFill>
              </a:rPr>
              <a:t>Una red rápida busca si hay una mano en la imagen y la recorta.</a:t>
            </a:r>
            <a:endParaRPr lang="en-US" sz="1600" dirty="0"/>
          </a:p>
        </p:txBody>
      </p:sp>
      <p:sp>
        <p:nvSpPr>
          <p:cNvPr id="10" name="Número 2"/>
          <p:cNvSpPr/>
          <p:nvPr/>
        </p:nvSpPr>
        <p:spPr>
          <a:xfrm>
            <a:off x="5212080" y="2743200"/>
            <a:ext cx="594360" cy="594360"/>
          </a:xfrm>
          <a:prstGeom prst="ellipse">
            <a:avLst/>
          </a:prstGeom>
          <a:solidFill>
            <a:schemeClr val="accent1"/>
          </a:solidFill>
          <a:ln/>
        </p:spPr>
      </p:sp>
      <p:sp>
        <p:nvSpPr>
          <p:cNvPr id="11" name="Text 8"/>
          <p:cNvSpPr txBox="1"/>
          <p:nvPr/>
        </p:nvSpPr>
        <p:spPr>
          <a:xfrm>
            <a:off x="5212080" y="274320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2" name="Text 9"/>
          <p:cNvSpPr txBox="1"/>
          <p:nvPr/>
        </p:nvSpPr>
        <p:spPr>
          <a:xfrm>
            <a:off x="6035040" y="2743200"/>
            <a:ext cx="5577840" cy="411480"/>
          </a:xfrm>
          <a:prstGeom prst="rect">
            <a:avLst/>
          </a:prstGeom>
          <a:noFill/>
          <a:ln/>
        </p:spPr>
        <p:txBody>
          <a:bodyPr wrap="square" lIns="0" tIns="0" rIns="0" bIns="0" rtlCol="0" anchor="t"/>
          <a:lstStyle/>
          <a:p>
            <a:pPr indent="0" marL="0">
              <a:buNone/>
            </a:pPr>
            <a:r>
              <a:rPr lang="en-US" sz="2000" b="1" dirty="0">
                <a:solidFill>
                  <a:schemeClr val="tx1"/>
                </a:solidFill>
              </a:rPr>
              <a:t>Ubica 21 puntos</a:t>
            </a:r>
            <a:endParaRPr lang="en-US" sz="2000" dirty="0"/>
          </a:p>
        </p:txBody>
      </p:sp>
      <p:sp>
        <p:nvSpPr>
          <p:cNvPr id="13" name="Text 10"/>
          <p:cNvSpPr txBox="1"/>
          <p:nvPr/>
        </p:nvSpPr>
        <p:spPr>
          <a:xfrm>
            <a:off x="6035040" y="3154680"/>
            <a:ext cx="5577840" cy="731520"/>
          </a:xfrm>
          <a:prstGeom prst="rect">
            <a:avLst/>
          </a:prstGeom>
          <a:noFill/>
          <a:ln/>
        </p:spPr>
        <p:txBody>
          <a:bodyPr wrap="square" lIns="0" tIns="0" rIns="0" bIns="0" rtlCol="0" anchor="t"/>
          <a:lstStyle/>
          <a:p>
            <a:pPr indent="0" marL="0">
              <a:buNone/>
            </a:pPr>
            <a:r>
              <a:rPr lang="en-US" sz="1600" dirty="0">
                <a:solidFill>
                  <a:schemeClr val="accent3"/>
                </a:solidFill>
              </a:rPr>
              <a:t>Otra red marca la muñeca y cuatro puntos por dedo.</a:t>
            </a:r>
            <a:endParaRPr lang="en-US" sz="1600" dirty="0"/>
          </a:p>
        </p:txBody>
      </p:sp>
      <p:sp>
        <p:nvSpPr>
          <p:cNvPr id="14" name="Número 3"/>
          <p:cNvSpPr/>
          <p:nvPr/>
        </p:nvSpPr>
        <p:spPr>
          <a:xfrm>
            <a:off x="5212080" y="3977640"/>
            <a:ext cx="594360" cy="594360"/>
          </a:xfrm>
          <a:prstGeom prst="ellipse">
            <a:avLst/>
          </a:prstGeom>
          <a:solidFill>
            <a:schemeClr val="accent1"/>
          </a:solidFill>
          <a:ln/>
        </p:spPr>
      </p:sp>
      <p:sp>
        <p:nvSpPr>
          <p:cNvPr id="15" name="Text 12"/>
          <p:cNvSpPr txBox="1"/>
          <p:nvPr/>
        </p:nvSpPr>
        <p:spPr>
          <a:xfrm>
            <a:off x="5212080" y="397764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6" name="Text 13"/>
          <p:cNvSpPr txBox="1"/>
          <p:nvPr/>
        </p:nvSpPr>
        <p:spPr>
          <a:xfrm>
            <a:off x="6035040" y="3977640"/>
            <a:ext cx="5577840" cy="411480"/>
          </a:xfrm>
          <a:prstGeom prst="rect">
            <a:avLst/>
          </a:prstGeom>
          <a:noFill/>
          <a:ln/>
        </p:spPr>
        <p:txBody>
          <a:bodyPr wrap="square" lIns="0" tIns="0" rIns="0" bIns="0" rtlCol="0" anchor="t"/>
          <a:lstStyle/>
          <a:p>
            <a:pPr indent="0" marL="0">
              <a:buNone/>
            </a:pPr>
            <a:r>
              <a:rPr lang="en-US" sz="2000" b="1" dirty="0">
                <a:solidFill>
                  <a:schemeClr val="tx1"/>
                </a:solidFill>
              </a:rPr>
              <a:t>Entrega coordenadas</a:t>
            </a:r>
            <a:endParaRPr lang="en-US" sz="2000" dirty="0"/>
          </a:p>
        </p:txBody>
      </p:sp>
      <p:sp>
        <p:nvSpPr>
          <p:cNvPr id="17" name="Text 14"/>
          <p:cNvSpPr txBox="1"/>
          <p:nvPr/>
        </p:nvSpPr>
        <p:spPr>
          <a:xfrm>
            <a:off x="6035040" y="4389120"/>
            <a:ext cx="5577840" cy="731520"/>
          </a:xfrm>
          <a:prstGeom prst="rect">
            <a:avLst/>
          </a:prstGeom>
          <a:noFill/>
          <a:ln/>
        </p:spPr>
        <p:txBody>
          <a:bodyPr wrap="square" lIns="0" tIns="0" rIns="0" bIns="0" rtlCol="0" anchor="t"/>
          <a:lstStyle/>
          <a:p>
            <a:pPr indent="0" marL="0">
              <a:buNone/>
            </a:pPr>
            <a:r>
              <a:rPr lang="en-US" sz="1600" dirty="0">
                <a:solidFill>
                  <a:schemeClr val="accent3"/>
                </a:solidFill>
              </a:rPr>
              <a:t>Dónde está cada punto, si es mano izquierda o derecha y qué tan seguro está.</a:t>
            </a:r>
            <a:endParaRPr lang="en-US" sz="1600" dirty="0"/>
          </a:p>
        </p:txBody>
      </p:sp>
      <p:sp>
        <p:nvSpPr>
          <p:cNvPr id="18" name="Aviso"/>
          <p:cNvSpPr/>
          <p:nvPr/>
        </p:nvSpPr>
        <p:spPr>
          <a:xfrm>
            <a:off x="5212080" y="5257800"/>
            <a:ext cx="6400800" cy="777240"/>
          </a:xfrm>
          <a:prstGeom prst="roundRect">
            <a:avLst>
              <a:gd name="adj" fmla="val 14118"/>
            </a:avLst>
          </a:prstGeom>
          <a:solidFill>
            <a:schemeClr val="tx1"/>
          </a:solidFill>
          <a:ln/>
        </p:spPr>
      </p:sp>
      <p:sp>
        <p:nvSpPr>
          <p:cNvPr id="19" name="Text 16"/>
          <p:cNvSpPr txBox="1"/>
          <p:nvPr/>
        </p:nvSpPr>
        <p:spPr>
          <a:xfrm>
            <a:off x="5440680" y="5257800"/>
            <a:ext cx="6035040" cy="777240"/>
          </a:xfrm>
          <a:prstGeom prst="rect">
            <a:avLst/>
          </a:prstGeom>
          <a:noFill/>
          <a:ln/>
        </p:spPr>
        <p:txBody>
          <a:bodyPr wrap="square" lIns="0" tIns="0" rIns="0" bIns="0" rtlCol="0" anchor="ctr"/>
          <a:lstStyle/>
          <a:p>
            <a:pPr indent="0" marL="0">
              <a:buNone/>
            </a:pPr>
            <a:r>
              <a:rPr lang="en-US" sz="1600" b="1" dirty="0">
                <a:solidFill>
                  <a:schemeClr val="accent2"/>
                </a:solidFill>
              </a:rPr>
              <a:t>Importante: </a:t>
            </a:r>
            <a:pPr indent="0" marL="0">
              <a:buNone/>
            </a:pPr>
            <a:r>
              <a:rPr lang="en-US" sz="1600" dirty="0">
                <a:solidFill>
                  <a:schemeClr val="bg1"/>
                </a:solidFill>
              </a:rPr>
              <a:t>ml5 no sabe qué es un gesto. Solo dice dónde está cada parte de la mano.</a:t>
            </a:r>
            <a:endParaRPr lang="en-US" sz="16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94415" cy="822960"/>
          </a:xfrm>
          <a:prstGeom prst="rect">
            <a:avLst/>
          </a:prstGeom>
          <a:noFill/>
          <a:ln/>
        </p:spPr>
        <p:txBody>
          <a:bodyPr wrap="square" lIns="0" tIns="0" rIns="0" bIns="0" rtlCol="0" anchor="ctr"/>
          <a:lstStyle/>
          <a:p>
            <a:pPr indent="0" marL="0">
              <a:buNone/>
            </a:pPr>
            <a:r>
              <a:rPr lang="en-US" sz="3600" b="1" dirty="0">
                <a:solidFill>
                  <a:schemeClr val="tx1"/>
                </a:solidFill>
              </a:rPr>
              <a:t>Ventajas y límites</a:t>
            </a:r>
            <a:endParaRPr lang="en-US" sz="3600" dirty="0"/>
          </a:p>
        </p:txBody>
      </p:sp>
      <p:sp>
        <p:nvSpPr>
          <p:cNvPr id="3" name="Ventajas"/>
          <p:cNvSpPr/>
          <p:nvPr/>
        </p:nvSpPr>
        <p:spPr>
          <a:xfrm>
            <a:off x="548640" y="1508760"/>
            <a:ext cx="5440680" cy="4572000"/>
          </a:xfrm>
          <a:prstGeom prst="roundRect">
            <a:avLst>
              <a:gd name="adj" fmla="val 2400"/>
            </a:avLst>
          </a:prstGeom>
          <a:solidFill>
            <a:schemeClr val="tx1"/>
          </a:solidFill>
          <a:ln/>
        </p:spPr>
      </p:sp>
      <p:sp>
        <p:nvSpPr>
          <p:cNvPr id="4" name="Text 2"/>
          <p:cNvSpPr txBox="1"/>
          <p:nvPr/>
        </p:nvSpPr>
        <p:spPr>
          <a:xfrm>
            <a:off x="914400" y="1737360"/>
            <a:ext cx="4572000" cy="457200"/>
          </a:xfrm>
          <a:prstGeom prst="rect">
            <a:avLst/>
          </a:prstGeom>
          <a:noFill/>
          <a:ln/>
        </p:spPr>
        <p:txBody>
          <a:bodyPr wrap="square" lIns="0" tIns="0" rIns="0" bIns="0" rtlCol="0" anchor="t"/>
          <a:lstStyle/>
          <a:p>
            <a:pPr indent="0" marL="0">
              <a:buNone/>
            </a:pPr>
            <a:r>
              <a:rPr lang="en-US" sz="2400" b="1" dirty="0">
                <a:solidFill>
                  <a:schemeClr val="accent2"/>
                </a:solidFill>
              </a:rPr>
              <a:t>Ventajas</a:t>
            </a:r>
            <a:endParaRPr lang="en-US" sz="2400" dirty="0"/>
          </a:p>
        </p:txBody>
      </p:sp>
      <p:sp>
        <p:nvSpPr>
          <p:cNvPr id="5" name="Círculo FaShieldHalved"/>
          <p:cNvSpPr/>
          <p:nvPr/>
        </p:nvSpPr>
        <p:spPr>
          <a:xfrm>
            <a:off x="914400" y="2423160"/>
            <a:ext cx="548640" cy="548640"/>
          </a:xfrm>
          <a:prstGeom prst="ellipse">
            <a:avLst/>
          </a:prstGeom>
          <a:solidFill>
            <a:schemeClr val="accent1"/>
          </a:solidFill>
          <a:ln/>
        </p:spPr>
      </p:sp>
      <p:pic>
        <p:nvPicPr>
          <p:cNvPr id="6" name="Ícono FaShieldHalved" descr="preencoded.png">    </p:cNvPr>
          <p:cNvPicPr>
            <a:picLocks noChangeAspect="1"/>
          </p:cNvPicPr>
          <p:nvPr/>
        </p:nvPicPr>
        <p:blipFill>
          <a:blip r:embed="rId1"/>
          <a:stretch>
            <a:fillRect/>
          </a:stretch>
        </p:blipFill>
        <p:spPr>
          <a:xfrm>
            <a:off x="1051560" y="2560320"/>
            <a:ext cx="274320" cy="274320"/>
          </a:xfrm>
          <a:prstGeom prst="rect">
            <a:avLst/>
          </a:prstGeom>
        </p:spPr>
      </p:pic>
      <p:sp>
        <p:nvSpPr>
          <p:cNvPr id="7" name="Text 4"/>
          <p:cNvSpPr txBox="1"/>
          <p:nvPr/>
        </p:nvSpPr>
        <p:spPr>
          <a:xfrm>
            <a:off x="1645920" y="2423160"/>
            <a:ext cx="4114800" cy="548640"/>
          </a:xfrm>
          <a:prstGeom prst="rect">
            <a:avLst/>
          </a:prstGeom>
          <a:noFill/>
          <a:ln/>
        </p:spPr>
        <p:txBody>
          <a:bodyPr wrap="square" lIns="0" tIns="0" rIns="0" bIns="0" rtlCol="0" anchor="ctr"/>
          <a:lstStyle/>
          <a:p>
            <a:pPr indent="0" marL="0">
              <a:buNone/>
            </a:pPr>
            <a:r>
              <a:rPr lang="en-US" sz="1600" dirty="0">
                <a:solidFill>
                  <a:schemeClr val="bg1"/>
                </a:solidFill>
              </a:rPr>
              <a:t>Privacidad: la imagen no sale del equipo</a:t>
            </a:r>
            <a:endParaRPr lang="en-US" sz="1600" dirty="0"/>
          </a:p>
        </p:txBody>
      </p:sp>
      <p:sp>
        <p:nvSpPr>
          <p:cNvPr id="8" name="Círculo FaSackDollar"/>
          <p:cNvSpPr/>
          <p:nvPr/>
        </p:nvSpPr>
        <p:spPr>
          <a:xfrm>
            <a:off x="914400" y="3291840"/>
            <a:ext cx="548640" cy="548640"/>
          </a:xfrm>
          <a:prstGeom prst="ellipse">
            <a:avLst/>
          </a:prstGeom>
          <a:solidFill>
            <a:schemeClr val="accent1"/>
          </a:solidFill>
          <a:ln/>
        </p:spPr>
      </p:sp>
      <p:pic>
        <p:nvPicPr>
          <p:cNvPr id="9" name="Ícono FaSackDollar" descr="preencoded.png">    </p:cNvPr>
          <p:cNvPicPr>
            <a:picLocks noChangeAspect="1"/>
          </p:cNvPicPr>
          <p:nvPr/>
        </p:nvPicPr>
        <p:blipFill>
          <a:blip r:embed="rId2"/>
          <a:stretch>
            <a:fillRect/>
          </a:stretch>
        </p:blipFill>
        <p:spPr>
          <a:xfrm>
            <a:off x="1051560" y="3429000"/>
            <a:ext cx="274320" cy="274320"/>
          </a:xfrm>
          <a:prstGeom prst="rect">
            <a:avLst/>
          </a:prstGeom>
        </p:spPr>
      </p:pic>
      <p:sp>
        <p:nvSpPr>
          <p:cNvPr id="10" name="Text 6"/>
          <p:cNvSpPr txBox="1"/>
          <p:nvPr/>
        </p:nvSpPr>
        <p:spPr>
          <a:xfrm>
            <a:off x="1645920" y="3291840"/>
            <a:ext cx="4114800" cy="548640"/>
          </a:xfrm>
          <a:prstGeom prst="rect">
            <a:avLst/>
          </a:prstGeom>
          <a:noFill/>
          <a:ln/>
        </p:spPr>
        <p:txBody>
          <a:bodyPr wrap="square" lIns="0" tIns="0" rIns="0" bIns="0" rtlCol="0" anchor="ctr"/>
          <a:lstStyle/>
          <a:p>
            <a:pPr indent="0" marL="0">
              <a:buNone/>
            </a:pPr>
            <a:r>
              <a:rPr lang="en-US" sz="1600" dirty="0">
                <a:solidFill>
                  <a:schemeClr val="bg1"/>
                </a:solidFill>
              </a:rPr>
              <a:t>Sin servidor de IA ni costo por uso</a:t>
            </a:r>
            <a:endParaRPr lang="en-US" sz="1600" dirty="0"/>
          </a:p>
        </p:txBody>
      </p:sp>
      <p:sp>
        <p:nvSpPr>
          <p:cNvPr id="11" name="Círculo FaBolt"/>
          <p:cNvSpPr/>
          <p:nvPr/>
        </p:nvSpPr>
        <p:spPr>
          <a:xfrm>
            <a:off x="914400" y="4160520"/>
            <a:ext cx="548640" cy="548640"/>
          </a:xfrm>
          <a:prstGeom prst="ellipse">
            <a:avLst/>
          </a:prstGeom>
          <a:solidFill>
            <a:schemeClr val="accent1"/>
          </a:solidFill>
          <a:ln/>
        </p:spPr>
      </p:sp>
      <p:pic>
        <p:nvPicPr>
          <p:cNvPr id="12" name="Ícono FaBolt" descr="preencoded.png">    </p:cNvPr>
          <p:cNvPicPr>
            <a:picLocks noChangeAspect="1"/>
          </p:cNvPicPr>
          <p:nvPr/>
        </p:nvPicPr>
        <p:blipFill>
          <a:blip r:embed="rId3"/>
          <a:stretch>
            <a:fillRect/>
          </a:stretch>
        </p:blipFill>
        <p:spPr>
          <a:xfrm>
            <a:off x="1051560" y="4297680"/>
            <a:ext cx="274320" cy="274320"/>
          </a:xfrm>
          <a:prstGeom prst="rect">
            <a:avLst/>
          </a:prstGeom>
        </p:spPr>
      </p:pic>
      <p:sp>
        <p:nvSpPr>
          <p:cNvPr id="13" name="Text 8"/>
          <p:cNvSpPr txBox="1"/>
          <p:nvPr/>
        </p:nvSpPr>
        <p:spPr>
          <a:xfrm>
            <a:off x="1645920" y="4160520"/>
            <a:ext cx="4114800" cy="548640"/>
          </a:xfrm>
          <a:prstGeom prst="rect">
            <a:avLst/>
          </a:prstGeom>
          <a:noFill/>
          <a:ln/>
        </p:spPr>
        <p:txBody>
          <a:bodyPr wrap="square" lIns="0" tIns="0" rIns="0" bIns="0" rtlCol="0" anchor="ctr"/>
          <a:lstStyle/>
          <a:p>
            <a:pPr indent="0" marL="0">
              <a:buNone/>
            </a:pPr>
            <a:r>
              <a:rPr lang="en-US" sz="1600" dirty="0">
                <a:solidFill>
                  <a:schemeClr val="bg1"/>
                </a:solidFill>
              </a:rPr>
              <a:t>Rápido, gracias a la tarjeta gráfica</a:t>
            </a:r>
            <a:endParaRPr lang="en-US" sz="1600" dirty="0"/>
          </a:p>
        </p:txBody>
      </p:sp>
      <p:sp>
        <p:nvSpPr>
          <p:cNvPr id="14" name="Círculo FaCode"/>
          <p:cNvSpPr/>
          <p:nvPr/>
        </p:nvSpPr>
        <p:spPr>
          <a:xfrm>
            <a:off x="914400" y="5029200"/>
            <a:ext cx="548640" cy="548640"/>
          </a:xfrm>
          <a:prstGeom prst="ellipse">
            <a:avLst/>
          </a:prstGeom>
          <a:solidFill>
            <a:schemeClr val="accent1"/>
          </a:solidFill>
          <a:ln/>
        </p:spPr>
      </p:sp>
      <p:pic>
        <p:nvPicPr>
          <p:cNvPr id="15" name="Ícono FaCode" descr="preencoded.png">    </p:cNvPr>
          <p:cNvPicPr>
            <a:picLocks noChangeAspect="1"/>
          </p:cNvPicPr>
          <p:nvPr/>
        </p:nvPicPr>
        <p:blipFill>
          <a:blip r:embed="rId4"/>
          <a:stretch>
            <a:fillRect/>
          </a:stretch>
        </p:blipFill>
        <p:spPr>
          <a:xfrm>
            <a:off x="1051560" y="5166360"/>
            <a:ext cx="274320" cy="274320"/>
          </a:xfrm>
          <a:prstGeom prst="rect">
            <a:avLst/>
          </a:prstGeom>
        </p:spPr>
      </p:pic>
      <p:sp>
        <p:nvSpPr>
          <p:cNvPr id="16" name="Text 10"/>
          <p:cNvSpPr txBox="1"/>
          <p:nvPr/>
        </p:nvSpPr>
        <p:spPr>
          <a:xfrm>
            <a:off x="1645920" y="5029200"/>
            <a:ext cx="4114800" cy="548640"/>
          </a:xfrm>
          <a:prstGeom prst="rect">
            <a:avLst/>
          </a:prstGeom>
          <a:noFill/>
          <a:ln/>
        </p:spPr>
        <p:txBody>
          <a:bodyPr wrap="square" lIns="0" tIns="0" rIns="0" bIns="0" rtlCol="0" anchor="ctr"/>
          <a:lstStyle/>
          <a:p>
            <a:pPr indent="0" marL="0">
              <a:buNone/>
            </a:pPr>
            <a:r>
              <a:rPr lang="en-US" sz="1600" dirty="0">
                <a:solidFill>
                  <a:schemeClr val="bg1"/>
                </a:solidFill>
              </a:rPr>
              <a:t>Pocas líneas de código para empezar</a:t>
            </a:r>
            <a:endParaRPr lang="en-US" sz="1600" dirty="0"/>
          </a:p>
        </p:txBody>
      </p:sp>
      <p:sp>
        <p:nvSpPr>
          <p:cNvPr id="17" name="Límites"/>
          <p:cNvSpPr/>
          <p:nvPr/>
        </p:nvSpPr>
        <p:spPr>
          <a:xfrm>
            <a:off x="6172200" y="1508760"/>
            <a:ext cx="5440680" cy="4572000"/>
          </a:xfrm>
          <a:prstGeom prst="roundRect">
            <a:avLst>
              <a:gd name="adj" fmla="val 2400"/>
            </a:avLst>
          </a:prstGeom>
          <a:solidFill>
            <a:schemeClr val="bg2"/>
          </a:solidFill>
          <a:ln/>
        </p:spPr>
      </p:sp>
      <p:sp>
        <p:nvSpPr>
          <p:cNvPr id="18" name="Text 12"/>
          <p:cNvSpPr txBox="1"/>
          <p:nvPr/>
        </p:nvSpPr>
        <p:spPr>
          <a:xfrm>
            <a:off x="6537960" y="1737360"/>
            <a:ext cx="4572000" cy="457200"/>
          </a:xfrm>
          <a:prstGeom prst="rect">
            <a:avLst/>
          </a:prstGeom>
          <a:noFill/>
          <a:ln/>
        </p:spPr>
        <p:txBody>
          <a:bodyPr wrap="square" lIns="0" tIns="0" rIns="0" bIns="0" rtlCol="0" anchor="t"/>
          <a:lstStyle/>
          <a:p>
            <a:pPr indent="0" marL="0">
              <a:buNone/>
            </a:pPr>
            <a:r>
              <a:rPr lang="en-US" sz="2400" b="1" dirty="0">
                <a:solidFill>
                  <a:schemeClr val="accent1"/>
                </a:solidFill>
              </a:rPr>
              <a:t>Límites</a:t>
            </a:r>
            <a:endParaRPr lang="en-US" sz="2400" dirty="0"/>
          </a:p>
        </p:txBody>
      </p:sp>
      <p:sp>
        <p:nvSpPr>
          <p:cNvPr id="19" name="Círculo FaSun"/>
          <p:cNvSpPr/>
          <p:nvPr/>
        </p:nvSpPr>
        <p:spPr>
          <a:xfrm>
            <a:off x="6537960" y="2423160"/>
            <a:ext cx="548640" cy="548640"/>
          </a:xfrm>
          <a:prstGeom prst="ellipse">
            <a:avLst/>
          </a:prstGeom>
          <a:solidFill>
            <a:schemeClr val="accent3"/>
          </a:solidFill>
          <a:ln/>
        </p:spPr>
      </p:sp>
      <p:pic>
        <p:nvPicPr>
          <p:cNvPr id="20" name="Ícono FaSun" descr="preencoded.png">    </p:cNvPr>
          <p:cNvPicPr>
            <a:picLocks noChangeAspect="1"/>
          </p:cNvPicPr>
          <p:nvPr/>
        </p:nvPicPr>
        <p:blipFill>
          <a:blip r:embed="rId5"/>
          <a:stretch>
            <a:fillRect/>
          </a:stretch>
        </p:blipFill>
        <p:spPr>
          <a:xfrm>
            <a:off x="6675120" y="2560320"/>
            <a:ext cx="274320" cy="274320"/>
          </a:xfrm>
          <a:prstGeom prst="rect">
            <a:avLst/>
          </a:prstGeom>
        </p:spPr>
      </p:pic>
      <p:sp>
        <p:nvSpPr>
          <p:cNvPr id="21" name="Text 14"/>
          <p:cNvSpPr txBox="1"/>
          <p:nvPr/>
        </p:nvSpPr>
        <p:spPr>
          <a:xfrm>
            <a:off x="7269480" y="2423160"/>
            <a:ext cx="4114800" cy="548640"/>
          </a:xfrm>
          <a:prstGeom prst="rect">
            <a:avLst/>
          </a:prstGeom>
          <a:noFill/>
          <a:ln/>
        </p:spPr>
        <p:txBody>
          <a:bodyPr wrap="square" lIns="0" tIns="0" rIns="0" bIns="0" rtlCol="0" anchor="ctr"/>
          <a:lstStyle/>
          <a:p>
            <a:pPr indent="0" marL="0">
              <a:buNone/>
            </a:pPr>
            <a:r>
              <a:rPr lang="en-US" sz="1600" dirty="0">
                <a:solidFill>
                  <a:schemeClr val="tx1"/>
                </a:solidFill>
              </a:rPr>
              <a:t>Depende de la luz y de la distancia</a:t>
            </a:r>
            <a:endParaRPr lang="en-US" sz="1600" dirty="0"/>
          </a:p>
        </p:txBody>
      </p:sp>
      <p:sp>
        <p:nvSpPr>
          <p:cNvPr id="22" name="Círculo FaHourglassHalf"/>
          <p:cNvSpPr/>
          <p:nvPr/>
        </p:nvSpPr>
        <p:spPr>
          <a:xfrm>
            <a:off x="6537960" y="3291840"/>
            <a:ext cx="548640" cy="548640"/>
          </a:xfrm>
          <a:prstGeom prst="ellipse">
            <a:avLst/>
          </a:prstGeom>
          <a:solidFill>
            <a:schemeClr val="accent3"/>
          </a:solidFill>
          <a:ln/>
        </p:spPr>
      </p:sp>
      <p:pic>
        <p:nvPicPr>
          <p:cNvPr id="23" name="Ícono FaHourglassHalf" descr="preencoded.png">    </p:cNvPr>
          <p:cNvPicPr>
            <a:picLocks noChangeAspect="1"/>
          </p:cNvPicPr>
          <p:nvPr/>
        </p:nvPicPr>
        <p:blipFill>
          <a:blip r:embed="rId6"/>
          <a:stretch>
            <a:fillRect/>
          </a:stretch>
        </p:blipFill>
        <p:spPr>
          <a:xfrm>
            <a:off x="6675120" y="3429000"/>
            <a:ext cx="274320" cy="274320"/>
          </a:xfrm>
          <a:prstGeom prst="rect">
            <a:avLst/>
          </a:prstGeom>
        </p:spPr>
      </p:pic>
      <p:sp>
        <p:nvSpPr>
          <p:cNvPr id="24" name="Text 16"/>
          <p:cNvSpPr txBox="1"/>
          <p:nvPr/>
        </p:nvSpPr>
        <p:spPr>
          <a:xfrm>
            <a:off x="7269480" y="3291840"/>
            <a:ext cx="4114800" cy="548640"/>
          </a:xfrm>
          <a:prstGeom prst="rect">
            <a:avLst/>
          </a:prstGeom>
          <a:noFill/>
          <a:ln/>
        </p:spPr>
        <p:txBody>
          <a:bodyPr wrap="square" lIns="0" tIns="0" rIns="0" bIns="0" rtlCol="0" anchor="ctr"/>
          <a:lstStyle/>
          <a:p>
            <a:pPr indent="0" marL="0">
              <a:buNone/>
            </a:pPr>
            <a:r>
              <a:rPr lang="en-US" sz="1600" dirty="0">
                <a:solidFill>
                  <a:schemeClr val="tx1"/>
                </a:solidFill>
              </a:rPr>
              <a:t>La primera vez tarda unos segundos en cargar</a:t>
            </a:r>
            <a:endParaRPr lang="en-US" sz="1600" dirty="0"/>
          </a:p>
        </p:txBody>
      </p:sp>
      <p:sp>
        <p:nvSpPr>
          <p:cNvPr id="25" name="Círculo FaLock"/>
          <p:cNvSpPr/>
          <p:nvPr/>
        </p:nvSpPr>
        <p:spPr>
          <a:xfrm>
            <a:off x="6537960" y="4160520"/>
            <a:ext cx="548640" cy="548640"/>
          </a:xfrm>
          <a:prstGeom prst="ellipse">
            <a:avLst/>
          </a:prstGeom>
          <a:solidFill>
            <a:schemeClr val="accent3"/>
          </a:solidFill>
          <a:ln/>
        </p:spPr>
      </p:sp>
      <p:pic>
        <p:nvPicPr>
          <p:cNvPr id="26" name="Ícono FaLock" descr="preencoded.png">    </p:cNvPr>
          <p:cNvPicPr>
            <a:picLocks noChangeAspect="1"/>
          </p:cNvPicPr>
          <p:nvPr/>
        </p:nvPicPr>
        <p:blipFill>
          <a:blip r:embed="rId7"/>
          <a:stretch>
            <a:fillRect/>
          </a:stretch>
        </p:blipFill>
        <p:spPr>
          <a:xfrm>
            <a:off x="6675120" y="4297680"/>
            <a:ext cx="274320" cy="274320"/>
          </a:xfrm>
          <a:prstGeom prst="rect">
            <a:avLst/>
          </a:prstGeom>
        </p:spPr>
      </p:pic>
      <p:sp>
        <p:nvSpPr>
          <p:cNvPr id="27" name="Text 18"/>
          <p:cNvSpPr txBox="1"/>
          <p:nvPr/>
        </p:nvSpPr>
        <p:spPr>
          <a:xfrm>
            <a:off x="7269480" y="4160520"/>
            <a:ext cx="4114800" cy="548640"/>
          </a:xfrm>
          <a:prstGeom prst="rect">
            <a:avLst/>
          </a:prstGeom>
          <a:noFill/>
          <a:ln/>
        </p:spPr>
        <p:txBody>
          <a:bodyPr wrap="square" lIns="0" tIns="0" rIns="0" bIns="0" rtlCol="0" anchor="ctr"/>
          <a:lstStyle/>
          <a:p>
            <a:pPr indent="0" marL="0">
              <a:buNone/>
            </a:pPr>
            <a:r>
              <a:rPr lang="en-US" sz="1600" dirty="0">
                <a:solidFill>
                  <a:schemeClr val="tx1"/>
                </a:solidFill>
              </a:rPr>
              <a:t>La cámara solo funciona en sitios seguros (https)</a:t>
            </a:r>
            <a:endParaRPr lang="en-US" sz="1600" dirty="0"/>
          </a:p>
        </p:txBody>
      </p:sp>
      <p:sp>
        <p:nvSpPr>
          <p:cNvPr id="28" name="Círculo FaPuzzlePiece"/>
          <p:cNvSpPr/>
          <p:nvPr/>
        </p:nvSpPr>
        <p:spPr>
          <a:xfrm>
            <a:off x="6537960" y="5029200"/>
            <a:ext cx="548640" cy="548640"/>
          </a:xfrm>
          <a:prstGeom prst="ellipse">
            <a:avLst/>
          </a:prstGeom>
          <a:solidFill>
            <a:schemeClr val="accent3"/>
          </a:solidFill>
          <a:ln/>
        </p:spPr>
      </p:sp>
      <p:pic>
        <p:nvPicPr>
          <p:cNvPr id="29" name="Ícono FaPuzzlePiece" descr="preencoded.png">    </p:cNvPr>
          <p:cNvPicPr>
            <a:picLocks noChangeAspect="1"/>
          </p:cNvPicPr>
          <p:nvPr/>
        </p:nvPicPr>
        <p:blipFill>
          <a:blip r:embed="rId8"/>
          <a:stretch>
            <a:fillRect/>
          </a:stretch>
        </p:blipFill>
        <p:spPr>
          <a:xfrm>
            <a:off x="6675120" y="5166360"/>
            <a:ext cx="274320" cy="274320"/>
          </a:xfrm>
          <a:prstGeom prst="rect">
            <a:avLst/>
          </a:prstGeom>
        </p:spPr>
      </p:pic>
      <p:sp>
        <p:nvSpPr>
          <p:cNvPr id="30" name="Text 20"/>
          <p:cNvSpPr txBox="1"/>
          <p:nvPr/>
        </p:nvSpPr>
        <p:spPr>
          <a:xfrm>
            <a:off x="7269480" y="5029200"/>
            <a:ext cx="4114800" cy="548640"/>
          </a:xfrm>
          <a:prstGeom prst="rect">
            <a:avLst/>
          </a:prstGeom>
          <a:noFill/>
          <a:ln/>
        </p:spPr>
        <p:txBody>
          <a:bodyPr wrap="square" lIns="0" tIns="0" rIns="0" bIns="0" rtlCol="0" anchor="ctr"/>
          <a:lstStyle/>
          <a:p>
            <a:pPr indent="0" marL="0">
              <a:buNone/>
            </a:pPr>
            <a:r>
              <a:rPr lang="en-US" sz="1600" dirty="0">
                <a:solidFill>
                  <a:schemeClr val="tx1"/>
                </a:solidFill>
              </a:rPr>
              <a:t>Entrega puntos, no significados: hay que interpretarlos</a:t>
            </a:r>
            <a:endParaRPr lang="en-US" sz="16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103120"/>
            <a:ext cx="9144000" cy="457200"/>
          </a:xfrm>
          <a:prstGeom prst="rect">
            <a:avLst/>
          </a:prstGeom>
          <a:noFill/>
          <a:ln/>
        </p:spPr>
        <p:txBody>
          <a:bodyPr wrap="square" lIns="0" tIns="0" rIns="0" bIns="0" rtlCol="0"/>
          <a:lstStyle/>
          <a:p>
            <a:pPr indent="0" marL="0">
              <a:buNone/>
            </a:pPr>
            <a:r>
              <a:rPr lang="en-US" sz="1800" b="1" dirty="0">
                <a:solidFill>
                  <a:schemeClr val="accent2"/>
                </a:solidFill>
              </a:rPr>
              <a:t>Parte 2</a:t>
            </a:r>
            <a:endParaRPr lang="en-US" sz="1800" dirty="0"/>
          </a:p>
        </p:txBody>
      </p:sp>
      <p:sp>
        <p:nvSpPr>
          <p:cNvPr id="3" name="Text 0"/>
          <p:cNvSpPr/>
          <p:nvPr>
            <p:ph idx="101" type="title" hasCustomPrompt="1"/>
          </p:nvPr>
        </p:nvSpPr>
        <p:spPr>
          <a:xfrm>
            <a:off x="548640" y="2651760"/>
            <a:ext cx="10058400" cy="1645920"/>
          </a:xfrm>
          <a:prstGeom prst="rect">
            <a:avLst/>
          </a:prstGeom>
          <a:noFill/>
          <a:ln/>
        </p:spPr>
        <p:txBody>
          <a:bodyPr wrap="square" lIns="0" tIns="0" rIns="0" bIns="0" rtlCol="0" anchor="t"/>
          <a:lstStyle/>
          <a:p>
            <a:pPr indent="0" marL="0">
              <a:buNone/>
            </a:pPr>
            <a:r>
              <a:rPr lang="en-US" sz="4400" b="1" dirty="0">
                <a:solidFill>
                  <a:schemeClr val="bg1"/>
                </a:solidFill>
              </a:rPr>
              <a:t>Cómo la usamos en Appresso Food</a:t>
            </a:r>
            <a:endParaRPr lang="en-US" sz="4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94415" cy="822960"/>
          </a:xfrm>
          <a:prstGeom prst="rect">
            <a:avLst/>
          </a:prstGeom>
          <a:noFill/>
          <a:ln/>
        </p:spPr>
        <p:txBody>
          <a:bodyPr wrap="square" lIns="0" tIns="0" rIns="0" bIns="0" rtlCol="0" anchor="ctr"/>
          <a:lstStyle/>
          <a:p>
            <a:pPr indent="0" marL="0">
              <a:buNone/>
            </a:pPr>
            <a:r>
              <a:rPr lang="en-US" sz="3600" b="1" dirty="0">
                <a:solidFill>
                  <a:schemeClr val="tx1"/>
                </a:solidFill>
              </a:rPr>
              <a:t>La idea: pedir sin hablar</a:t>
            </a:r>
            <a:endParaRPr lang="en-US" sz="3600" dirty="0"/>
          </a:p>
        </p:txBody>
      </p:sp>
      <p:pic>
        <p:nvPicPr>
          <p:cNvPr id="3" name="Foto combo" descr="Hamburguesa doble con queso">    </p:cNvPr>
          <p:cNvPicPr>
            <a:picLocks noChangeAspect="1"/>
          </p:cNvPicPr>
          <p:nvPr/>
        </p:nvPicPr>
        <p:blipFill>
          <a:blip r:embed="rId1"/>
          <a:srcRect l="0" r="0" t="0" b="0"/>
          <a:stretch/>
        </p:blipFill>
        <p:spPr>
          <a:xfrm>
            <a:off x="548640" y="1508760"/>
            <a:ext cx="4937760" cy="4526280"/>
          </a:xfrm>
          <a:prstGeom prst="rect">
            <a:avLst/>
          </a:prstGeom>
        </p:spPr>
      </p:pic>
      <p:sp>
        <p:nvSpPr>
          <p:cNvPr id="4" name="Text 1"/>
          <p:cNvSpPr txBox="1"/>
          <p:nvPr/>
        </p:nvSpPr>
        <p:spPr>
          <a:xfrm>
            <a:off x="5943600" y="1600200"/>
            <a:ext cx="5669280" cy="1371600"/>
          </a:xfrm>
          <a:prstGeom prst="rect">
            <a:avLst/>
          </a:prstGeom>
          <a:noFill/>
          <a:ln/>
        </p:spPr>
        <p:txBody>
          <a:bodyPr wrap="square" lIns="0" tIns="0" rIns="0" bIns="0" rtlCol="0" anchor="t"/>
          <a:lstStyle/>
          <a:p>
            <a:pPr indent="0" marL="0">
              <a:buNone/>
            </a:pPr>
            <a:r>
              <a:rPr lang="en-US" sz="2400" b="1" dirty="0">
                <a:solidFill>
                  <a:schemeClr val="tx1"/>
                </a:solidFill>
                <a:latin typeface="Cambria" pitchFamily="34" charset="0"/>
                <a:ea typeface="Cambria" pitchFamily="34" charset="-122"/>
                <a:cs typeface="Cambria" pitchFamily="34" charset="-120"/>
              </a:rPr>
              <a:t>¿Cómo pide su combo una persona sorda o con dificultad para hablar?</a:t>
            </a:r>
            <a:endParaRPr lang="en-US" sz="2400" dirty="0"/>
          </a:p>
        </p:txBody>
      </p:sp>
      <p:sp>
        <p:nvSpPr>
          <p:cNvPr id="5" name="Círculo FaHandPeace"/>
          <p:cNvSpPr/>
          <p:nvPr/>
        </p:nvSpPr>
        <p:spPr>
          <a:xfrm>
            <a:off x="5943600" y="3154680"/>
            <a:ext cx="548640" cy="548640"/>
          </a:xfrm>
          <a:prstGeom prst="ellipse">
            <a:avLst/>
          </a:prstGeom>
          <a:solidFill>
            <a:schemeClr val="accent1"/>
          </a:solidFill>
          <a:ln/>
        </p:spPr>
      </p:sp>
      <p:pic>
        <p:nvPicPr>
          <p:cNvPr id="6" name="Ícono FaHandPeace" descr="preencoded.png">    </p:cNvPr>
          <p:cNvPicPr>
            <a:picLocks noChangeAspect="1"/>
          </p:cNvPicPr>
          <p:nvPr/>
        </p:nvPicPr>
        <p:blipFill>
          <a:blip r:embed="rId2"/>
          <a:stretch>
            <a:fillRect/>
          </a:stretch>
        </p:blipFill>
        <p:spPr>
          <a:xfrm>
            <a:off x="6080760" y="3291840"/>
            <a:ext cx="274320" cy="274320"/>
          </a:xfrm>
          <a:prstGeom prst="rect">
            <a:avLst/>
          </a:prstGeom>
        </p:spPr>
      </p:pic>
      <p:sp>
        <p:nvSpPr>
          <p:cNvPr id="7" name="Text 3"/>
          <p:cNvSpPr txBox="1"/>
          <p:nvPr/>
        </p:nvSpPr>
        <p:spPr>
          <a:xfrm>
            <a:off x="6675120" y="3154680"/>
            <a:ext cx="4937760" cy="548640"/>
          </a:xfrm>
          <a:prstGeom prst="rect">
            <a:avLst/>
          </a:prstGeom>
          <a:noFill/>
          <a:ln/>
        </p:spPr>
        <p:txBody>
          <a:bodyPr wrap="square" lIns="0" tIns="0" rIns="0" bIns="0" rtlCol="0" anchor="ctr"/>
          <a:lstStyle/>
          <a:p>
            <a:pPr indent="0" marL="0">
              <a:buNone/>
            </a:pPr>
            <a:r>
              <a:rPr lang="en-US" sz="1800" dirty="0">
                <a:solidFill>
                  <a:schemeClr val="tx1"/>
                </a:solidFill>
              </a:rPr>
              <a:t>Con gestos de la mano frente a una cámara</a:t>
            </a:r>
            <a:endParaRPr lang="en-US" sz="1800" dirty="0"/>
          </a:p>
        </p:txBody>
      </p:sp>
      <p:sp>
        <p:nvSpPr>
          <p:cNvPr id="8" name="Círculo FaCommentSlash"/>
          <p:cNvSpPr/>
          <p:nvPr/>
        </p:nvSpPr>
        <p:spPr>
          <a:xfrm>
            <a:off x="5943600" y="3886200"/>
            <a:ext cx="548640" cy="548640"/>
          </a:xfrm>
          <a:prstGeom prst="ellipse">
            <a:avLst/>
          </a:prstGeom>
          <a:solidFill>
            <a:schemeClr val="accent1"/>
          </a:solidFill>
          <a:ln/>
        </p:spPr>
      </p:sp>
      <p:pic>
        <p:nvPicPr>
          <p:cNvPr id="9" name="Ícono FaCommentSlash" descr="preencoded.png">    </p:cNvPr>
          <p:cNvPicPr>
            <a:picLocks noChangeAspect="1"/>
          </p:cNvPicPr>
          <p:nvPr/>
        </p:nvPicPr>
        <p:blipFill>
          <a:blip r:embed="rId3"/>
          <a:stretch>
            <a:fillRect/>
          </a:stretch>
        </p:blipFill>
        <p:spPr>
          <a:xfrm>
            <a:off x="6080760" y="4023360"/>
            <a:ext cx="274320" cy="274320"/>
          </a:xfrm>
          <a:prstGeom prst="rect">
            <a:avLst/>
          </a:prstGeom>
        </p:spPr>
      </p:pic>
      <p:sp>
        <p:nvSpPr>
          <p:cNvPr id="10" name="Text 5"/>
          <p:cNvSpPr txBox="1"/>
          <p:nvPr/>
        </p:nvSpPr>
        <p:spPr>
          <a:xfrm>
            <a:off x="6675120" y="3886200"/>
            <a:ext cx="4937760" cy="548640"/>
          </a:xfrm>
          <a:prstGeom prst="rect">
            <a:avLst/>
          </a:prstGeom>
          <a:noFill/>
          <a:ln/>
        </p:spPr>
        <p:txBody>
          <a:bodyPr wrap="square" lIns="0" tIns="0" rIns="0" bIns="0" rtlCol="0" anchor="ctr"/>
          <a:lstStyle/>
          <a:p>
            <a:pPr indent="0" marL="0">
              <a:buNone/>
            </a:pPr>
            <a:r>
              <a:rPr lang="en-US" sz="1800" dirty="0">
                <a:solidFill>
                  <a:schemeClr val="tx1"/>
                </a:solidFill>
              </a:rPr>
              <a:t>Sin hablar ni escribir</a:t>
            </a:r>
            <a:endParaRPr lang="en-US" sz="1800" dirty="0"/>
          </a:p>
        </p:txBody>
      </p:sp>
      <p:sp>
        <p:nvSpPr>
          <p:cNvPr id="11" name="Círculo FaShieldHalved"/>
          <p:cNvSpPr/>
          <p:nvPr/>
        </p:nvSpPr>
        <p:spPr>
          <a:xfrm>
            <a:off x="5943600" y="4617720"/>
            <a:ext cx="548640" cy="548640"/>
          </a:xfrm>
          <a:prstGeom prst="ellipse">
            <a:avLst/>
          </a:prstGeom>
          <a:solidFill>
            <a:schemeClr val="accent1"/>
          </a:solidFill>
          <a:ln/>
        </p:spPr>
      </p:sp>
      <p:pic>
        <p:nvPicPr>
          <p:cNvPr id="12" name="Ícono FaShieldHalved" descr="preencoded.png">    </p:cNvPr>
          <p:cNvPicPr>
            <a:picLocks noChangeAspect="1"/>
          </p:cNvPicPr>
          <p:nvPr/>
        </p:nvPicPr>
        <p:blipFill>
          <a:blip r:embed="rId4"/>
          <a:stretch>
            <a:fillRect/>
          </a:stretch>
        </p:blipFill>
        <p:spPr>
          <a:xfrm>
            <a:off x="6080760" y="4754880"/>
            <a:ext cx="274320" cy="274320"/>
          </a:xfrm>
          <a:prstGeom prst="rect">
            <a:avLst/>
          </a:prstGeom>
        </p:spPr>
      </p:pic>
      <p:sp>
        <p:nvSpPr>
          <p:cNvPr id="13" name="Text 7"/>
          <p:cNvSpPr txBox="1"/>
          <p:nvPr/>
        </p:nvSpPr>
        <p:spPr>
          <a:xfrm>
            <a:off x="6675120" y="4617720"/>
            <a:ext cx="4937760" cy="548640"/>
          </a:xfrm>
          <a:prstGeom prst="rect">
            <a:avLst/>
          </a:prstGeom>
          <a:noFill/>
          <a:ln/>
        </p:spPr>
        <p:txBody>
          <a:bodyPr wrap="square" lIns="0" tIns="0" rIns="0" bIns="0" rtlCol="0" anchor="ctr"/>
          <a:lstStyle/>
          <a:p>
            <a:pPr indent="0" marL="0">
              <a:buNone/>
            </a:pPr>
            <a:r>
              <a:rPr lang="en-US" sz="1800" dirty="0">
                <a:solidFill>
                  <a:schemeClr val="tx1"/>
                </a:solidFill>
              </a:rPr>
              <a:t>Su imagen nunca sale del local</a:t>
            </a:r>
            <a:endParaRPr lang="en-US" sz="1800" dirty="0"/>
          </a:p>
        </p:txBody>
      </p:sp>
      <p:sp>
        <p:nvSpPr>
          <p:cNvPr id="14" name="Círculo FaHandPointer"/>
          <p:cNvSpPr/>
          <p:nvPr/>
        </p:nvSpPr>
        <p:spPr>
          <a:xfrm>
            <a:off x="5943600" y="5349240"/>
            <a:ext cx="548640" cy="548640"/>
          </a:xfrm>
          <a:prstGeom prst="ellipse">
            <a:avLst/>
          </a:prstGeom>
          <a:solidFill>
            <a:schemeClr val="accent1"/>
          </a:solidFill>
          <a:ln/>
        </p:spPr>
      </p:sp>
      <p:pic>
        <p:nvPicPr>
          <p:cNvPr id="15" name="Ícono FaHandPointer" descr="preencoded.png">    </p:cNvPr>
          <p:cNvPicPr>
            <a:picLocks noChangeAspect="1"/>
          </p:cNvPicPr>
          <p:nvPr/>
        </p:nvPicPr>
        <p:blipFill>
          <a:blip r:embed="rId5"/>
          <a:stretch>
            <a:fillRect/>
          </a:stretch>
        </p:blipFill>
        <p:spPr>
          <a:xfrm>
            <a:off x="6080760" y="5486400"/>
            <a:ext cx="274320" cy="274320"/>
          </a:xfrm>
          <a:prstGeom prst="rect">
            <a:avLst/>
          </a:prstGeom>
        </p:spPr>
      </p:pic>
      <p:sp>
        <p:nvSpPr>
          <p:cNvPr id="16" name="Text 9"/>
          <p:cNvSpPr txBox="1"/>
          <p:nvPr/>
        </p:nvSpPr>
        <p:spPr>
          <a:xfrm>
            <a:off x="6675120" y="5349240"/>
            <a:ext cx="4937760" cy="548640"/>
          </a:xfrm>
          <a:prstGeom prst="rect">
            <a:avLst/>
          </a:prstGeom>
          <a:noFill/>
          <a:ln/>
        </p:spPr>
        <p:txBody>
          <a:bodyPr wrap="square" lIns="0" tIns="0" rIns="0" bIns="0" rtlCol="0" anchor="ctr"/>
          <a:lstStyle/>
          <a:p>
            <a:pPr indent="0" marL="0">
              <a:buNone/>
            </a:pPr>
            <a:r>
              <a:rPr lang="en-US" sz="1800" dirty="0">
                <a:solidFill>
                  <a:schemeClr val="tx1"/>
                </a:solidFill>
              </a:rPr>
              <a:t>Y si prefiere, también puede tocar la pantalla</a:t>
            </a:r>
            <a:endParaRPr lang="en-US" sz="18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94415" cy="822960"/>
          </a:xfrm>
          <a:prstGeom prst="rect">
            <a:avLst/>
          </a:prstGeom>
          <a:noFill/>
          <a:ln/>
        </p:spPr>
        <p:txBody>
          <a:bodyPr wrap="square" lIns="0" tIns="0" rIns="0" bIns="0" rtlCol="0" anchor="ctr"/>
          <a:lstStyle/>
          <a:p>
            <a:pPr indent="0" marL="0">
              <a:buNone/>
            </a:pPr>
            <a:r>
              <a:rPr lang="en-US" sz="3600" b="1" dirty="0">
                <a:solidFill>
                  <a:schemeClr val="tx1"/>
                </a:solidFill>
              </a:rPr>
              <a:t>Cinco gestos cubren todo el pedido</a:t>
            </a:r>
            <a:endParaRPr lang="en-US" sz="3600" dirty="0"/>
          </a:p>
        </p:txBody>
      </p:sp>
      <p:sp>
        <p:nvSpPr>
          <p:cNvPr id="3" name="Gesto 1 a 4 dedos"/>
          <p:cNvSpPr/>
          <p:nvPr/>
        </p:nvSpPr>
        <p:spPr>
          <a:xfrm>
            <a:off x="548640" y="1600200"/>
            <a:ext cx="3520440" cy="1965960"/>
          </a:xfrm>
          <a:prstGeom prst="roundRect">
            <a:avLst>
              <a:gd name="adj" fmla="val 5581"/>
            </a:avLst>
          </a:prstGeom>
          <a:solidFill>
            <a:schemeClr val="bg2"/>
          </a:solidFill>
          <a:ln/>
        </p:spPr>
      </p:sp>
      <p:sp>
        <p:nvSpPr>
          <p:cNvPr id="4" name="Círculo FaHandPointUp"/>
          <p:cNvSpPr/>
          <p:nvPr/>
        </p:nvSpPr>
        <p:spPr>
          <a:xfrm>
            <a:off x="868680" y="1920240"/>
            <a:ext cx="731520" cy="731520"/>
          </a:xfrm>
          <a:prstGeom prst="ellipse">
            <a:avLst/>
          </a:prstGeom>
          <a:solidFill>
            <a:schemeClr val="accent1"/>
          </a:solidFill>
          <a:ln/>
        </p:spPr>
      </p:sp>
      <p:pic>
        <p:nvPicPr>
          <p:cNvPr id="5" name="Ícono FaHandPointUp" descr="preencoded.png">    </p:cNvPr>
          <p:cNvPicPr>
            <a:picLocks noChangeAspect="1"/>
          </p:cNvPicPr>
          <p:nvPr/>
        </p:nvPicPr>
        <p:blipFill>
          <a:blip r:embed="rId1"/>
          <a:stretch>
            <a:fillRect/>
          </a:stretch>
        </p:blipFill>
        <p:spPr>
          <a:xfrm>
            <a:off x="1051560" y="2103120"/>
            <a:ext cx="365760" cy="365760"/>
          </a:xfrm>
          <a:prstGeom prst="rect">
            <a:avLst/>
          </a:prstGeom>
        </p:spPr>
      </p:pic>
      <p:sp>
        <p:nvSpPr>
          <p:cNvPr id="6" name="Text 3"/>
          <p:cNvSpPr txBox="1"/>
          <p:nvPr/>
        </p:nvSpPr>
        <p:spPr>
          <a:xfrm>
            <a:off x="1783080" y="2011680"/>
            <a:ext cx="2103120" cy="457200"/>
          </a:xfrm>
          <a:prstGeom prst="rect">
            <a:avLst/>
          </a:prstGeom>
          <a:noFill/>
          <a:ln/>
        </p:spPr>
        <p:txBody>
          <a:bodyPr wrap="square" lIns="0" tIns="0" rIns="0" bIns="0" rtlCol="0" anchor="t"/>
          <a:lstStyle/>
          <a:p>
            <a:pPr indent="0" marL="0">
              <a:buNone/>
            </a:pPr>
            <a:r>
              <a:rPr lang="en-US" sz="2000" b="1" dirty="0">
                <a:solidFill>
                  <a:schemeClr val="tx1"/>
                </a:solidFill>
              </a:rPr>
              <a:t>1 a 4 dedos</a:t>
            </a:r>
            <a:endParaRPr lang="en-US" sz="2000" dirty="0"/>
          </a:p>
        </p:txBody>
      </p:sp>
      <p:sp>
        <p:nvSpPr>
          <p:cNvPr id="7" name="Text 4"/>
          <p:cNvSpPr txBox="1"/>
          <p:nvPr/>
        </p:nvSpPr>
        <p:spPr>
          <a:xfrm>
            <a:off x="868680" y="2834640"/>
            <a:ext cx="2926080" cy="548640"/>
          </a:xfrm>
          <a:prstGeom prst="rect">
            <a:avLst/>
          </a:prstGeom>
          <a:noFill/>
          <a:ln/>
        </p:spPr>
        <p:txBody>
          <a:bodyPr wrap="square" lIns="0" tIns="0" rIns="0" bIns="0" rtlCol="0" anchor="t"/>
          <a:lstStyle/>
          <a:p>
            <a:pPr indent="0" marL="0">
              <a:buNone/>
            </a:pPr>
            <a:r>
              <a:rPr lang="en-US" sz="1600" dirty="0">
                <a:solidFill>
                  <a:schemeClr val="accent3"/>
                </a:solidFill>
              </a:rPr>
              <a:t>Elige el combo con ese número</a:t>
            </a:r>
            <a:endParaRPr lang="en-US" sz="1600" dirty="0"/>
          </a:p>
        </p:txBody>
      </p:sp>
      <p:sp>
        <p:nvSpPr>
          <p:cNvPr id="8" name="Gesto Dedos otra vez"/>
          <p:cNvSpPr/>
          <p:nvPr/>
        </p:nvSpPr>
        <p:spPr>
          <a:xfrm>
            <a:off x="4297680" y="1600200"/>
            <a:ext cx="3520440" cy="1965960"/>
          </a:xfrm>
          <a:prstGeom prst="roundRect">
            <a:avLst>
              <a:gd name="adj" fmla="val 5581"/>
            </a:avLst>
          </a:prstGeom>
          <a:solidFill>
            <a:schemeClr val="bg2"/>
          </a:solidFill>
          <a:ln/>
        </p:spPr>
      </p:sp>
      <p:sp>
        <p:nvSpPr>
          <p:cNvPr id="9" name="Círculo FaHandPeace"/>
          <p:cNvSpPr/>
          <p:nvPr/>
        </p:nvSpPr>
        <p:spPr>
          <a:xfrm>
            <a:off x="4617720" y="1920240"/>
            <a:ext cx="731520" cy="731520"/>
          </a:xfrm>
          <a:prstGeom prst="ellipse">
            <a:avLst/>
          </a:prstGeom>
          <a:solidFill>
            <a:schemeClr val="accent1"/>
          </a:solidFill>
          <a:ln/>
        </p:spPr>
      </p:sp>
      <p:pic>
        <p:nvPicPr>
          <p:cNvPr id="10" name="Ícono FaHandPeace" descr="preencoded.png">    </p:cNvPr>
          <p:cNvPicPr>
            <a:picLocks noChangeAspect="1"/>
          </p:cNvPicPr>
          <p:nvPr/>
        </p:nvPicPr>
        <p:blipFill>
          <a:blip r:embed="rId2"/>
          <a:stretch>
            <a:fillRect/>
          </a:stretch>
        </p:blipFill>
        <p:spPr>
          <a:xfrm>
            <a:off x="4800600" y="2103120"/>
            <a:ext cx="365760" cy="365760"/>
          </a:xfrm>
          <a:prstGeom prst="rect">
            <a:avLst/>
          </a:prstGeom>
        </p:spPr>
      </p:pic>
      <p:sp>
        <p:nvSpPr>
          <p:cNvPr id="11" name="Text 7"/>
          <p:cNvSpPr txBox="1"/>
          <p:nvPr/>
        </p:nvSpPr>
        <p:spPr>
          <a:xfrm>
            <a:off x="5532120" y="2011680"/>
            <a:ext cx="2103120" cy="457200"/>
          </a:xfrm>
          <a:prstGeom prst="rect">
            <a:avLst/>
          </a:prstGeom>
          <a:noFill/>
          <a:ln/>
        </p:spPr>
        <p:txBody>
          <a:bodyPr wrap="square" lIns="0" tIns="0" rIns="0" bIns="0" rtlCol="0" anchor="t"/>
          <a:lstStyle/>
          <a:p>
            <a:pPr indent="0" marL="0">
              <a:buNone/>
            </a:pPr>
            <a:r>
              <a:rPr lang="en-US" sz="2000" b="1" dirty="0">
                <a:solidFill>
                  <a:schemeClr val="tx1"/>
                </a:solidFill>
              </a:rPr>
              <a:t>Dedos otra vez</a:t>
            </a:r>
            <a:endParaRPr lang="en-US" sz="2000" dirty="0"/>
          </a:p>
        </p:txBody>
      </p:sp>
      <p:sp>
        <p:nvSpPr>
          <p:cNvPr id="12" name="Text 8"/>
          <p:cNvSpPr txBox="1"/>
          <p:nvPr/>
        </p:nvSpPr>
        <p:spPr>
          <a:xfrm>
            <a:off x="4617720" y="2834640"/>
            <a:ext cx="2926080" cy="548640"/>
          </a:xfrm>
          <a:prstGeom prst="rect">
            <a:avLst/>
          </a:prstGeom>
          <a:noFill/>
          <a:ln/>
        </p:spPr>
        <p:txBody>
          <a:bodyPr wrap="square" lIns="0" tIns="0" rIns="0" bIns="0" rtlCol="0" anchor="t"/>
          <a:lstStyle/>
          <a:p>
            <a:pPr indent="0" marL="0">
              <a:buNone/>
            </a:pPr>
            <a:r>
              <a:rPr lang="en-US" sz="1600" dirty="0">
                <a:solidFill>
                  <a:schemeClr val="accent3"/>
                </a:solidFill>
              </a:rPr>
              <a:t>Indica cuántos quiere</a:t>
            </a:r>
            <a:endParaRPr lang="en-US" sz="1600" dirty="0"/>
          </a:p>
        </p:txBody>
      </p:sp>
      <p:sp>
        <p:nvSpPr>
          <p:cNvPr id="13" name="Gesto Pulgar arriba"/>
          <p:cNvSpPr/>
          <p:nvPr/>
        </p:nvSpPr>
        <p:spPr>
          <a:xfrm>
            <a:off x="8046720" y="1600200"/>
            <a:ext cx="3520440" cy="1965960"/>
          </a:xfrm>
          <a:prstGeom prst="roundRect">
            <a:avLst>
              <a:gd name="adj" fmla="val 5581"/>
            </a:avLst>
          </a:prstGeom>
          <a:solidFill>
            <a:schemeClr val="bg2"/>
          </a:solidFill>
          <a:ln/>
        </p:spPr>
      </p:sp>
      <p:sp>
        <p:nvSpPr>
          <p:cNvPr id="14" name="Círculo FaThumbsUp"/>
          <p:cNvSpPr/>
          <p:nvPr/>
        </p:nvSpPr>
        <p:spPr>
          <a:xfrm>
            <a:off x="8366760" y="1920240"/>
            <a:ext cx="731520" cy="731520"/>
          </a:xfrm>
          <a:prstGeom prst="ellipse">
            <a:avLst/>
          </a:prstGeom>
          <a:solidFill>
            <a:schemeClr val="accent1"/>
          </a:solidFill>
          <a:ln/>
        </p:spPr>
      </p:sp>
      <p:pic>
        <p:nvPicPr>
          <p:cNvPr id="15" name="Ícono FaThumbsUp" descr="preencoded.png">    </p:cNvPr>
          <p:cNvPicPr>
            <a:picLocks noChangeAspect="1"/>
          </p:cNvPicPr>
          <p:nvPr/>
        </p:nvPicPr>
        <p:blipFill>
          <a:blip r:embed="rId3"/>
          <a:stretch>
            <a:fillRect/>
          </a:stretch>
        </p:blipFill>
        <p:spPr>
          <a:xfrm>
            <a:off x="8549640" y="2103120"/>
            <a:ext cx="365760" cy="365760"/>
          </a:xfrm>
          <a:prstGeom prst="rect">
            <a:avLst/>
          </a:prstGeom>
        </p:spPr>
      </p:pic>
      <p:sp>
        <p:nvSpPr>
          <p:cNvPr id="16" name="Text 11"/>
          <p:cNvSpPr txBox="1"/>
          <p:nvPr/>
        </p:nvSpPr>
        <p:spPr>
          <a:xfrm>
            <a:off x="9281160" y="2011680"/>
            <a:ext cx="2103120" cy="457200"/>
          </a:xfrm>
          <a:prstGeom prst="rect">
            <a:avLst/>
          </a:prstGeom>
          <a:noFill/>
          <a:ln/>
        </p:spPr>
        <p:txBody>
          <a:bodyPr wrap="square" lIns="0" tIns="0" rIns="0" bIns="0" rtlCol="0" anchor="t"/>
          <a:lstStyle/>
          <a:p>
            <a:pPr indent="0" marL="0">
              <a:buNone/>
            </a:pPr>
            <a:r>
              <a:rPr lang="en-US" sz="2000" b="1" dirty="0">
                <a:solidFill>
                  <a:schemeClr val="tx1"/>
                </a:solidFill>
              </a:rPr>
              <a:t>Pulgar arriba</a:t>
            </a:r>
            <a:endParaRPr lang="en-US" sz="2000" dirty="0"/>
          </a:p>
        </p:txBody>
      </p:sp>
      <p:sp>
        <p:nvSpPr>
          <p:cNvPr id="17" name="Text 12"/>
          <p:cNvSpPr txBox="1"/>
          <p:nvPr/>
        </p:nvSpPr>
        <p:spPr>
          <a:xfrm>
            <a:off x="8366760" y="2834640"/>
            <a:ext cx="2926080" cy="548640"/>
          </a:xfrm>
          <a:prstGeom prst="rect">
            <a:avLst/>
          </a:prstGeom>
          <a:noFill/>
          <a:ln/>
        </p:spPr>
        <p:txBody>
          <a:bodyPr wrap="square" lIns="0" tIns="0" rIns="0" bIns="0" rtlCol="0" anchor="t"/>
          <a:lstStyle/>
          <a:p>
            <a:pPr indent="0" marL="0">
              <a:buNone/>
            </a:pPr>
            <a:r>
              <a:rPr lang="en-US" sz="1600" dirty="0">
                <a:solidFill>
                  <a:schemeClr val="accent3"/>
                </a:solidFill>
              </a:rPr>
              <a:t>Confirma el pedido</a:t>
            </a:r>
            <a:endParaRPr lang="en-US" sz="1600" dirty="0"/>
          </a:p>
        </p:txBody>
      </p:sp>
      <p:sp>
        <p:nvSpPr>
          <p:cNvPr id="18" name="Gesto Puño"/>
          <p:cNvSpPr/>
          <p:nvPr/>
        </p:nvSpPr>
        <p:spPr>
          <a:xfrm>
            <a:off x="548640" y="3840480"/>
            <a:ext cx="3520440" cy="1965960"/>
          </a:xfrm>
          <a:prstGeom prst="roundRect">
            <a:avLst>
              <a:gd name="adj" fmla="val 5581"/>
            </a:avLst>
          </a:prstGeom>
          <a:solidFill>
            <a:schemeClr val="bg2"/>
          </a:solidFill>
          <a:ln/>
        </p:spPr>
      </p:sp>
      <p:sp>
        <p:nvSpPr>
          <p:cNvPr id="19" name="Círculo FaHandFist"/>
          <p:cNvSpPr/>
          <p:nvPr/>
        </p:nvSpPr>
        <p:spPr>
          <a:xfrm>
            <a:off x="868680" y="4160520"/>
            <a:ext cx="731520" cy="731520"/>
          </a:xfrm>
          <a:prstGeom prst="ellipse">
            <a:avLst/>
          </a:prstGeom>
          <a:solidFill>
            <a:schemeClr val="accent1"/>
          </a:solidFill>
          <a:ln/>
        </p:spPr>
      </p:sp>
      <p:pic>
        <p:nvPicPr>
          <p:cNvPr id="20" name="Ícono FaHandFist" descr="preencoded.png">    </p:cNvPr>
          <p:cNvPicPr>
            <a:picLocks noChangeAspect="1"/>
          </p:cNvPicPr>
          <p:nvPr/>
        </p:nvPicPr>
        <p:blipFill>
          <a:blip r:embed="rId4"/>
          <a:stretch>
            <a:fillRect/>
          </a:stretch>
        </p:blipFill>
        <p:spPr>
          <a:xfrm>
            <a:off x="1051560" y="4343400"/>
            <a:ext cx="365760" cy="365760"/>
          </a:xfrm>
          <a:prstGeom prst="rect">
            <a:avLst/>
          </a:prstGeom>
        </p:spPr>
      </p:pic>
      <p:sp>
        <p:nvSpPr>
          <p:cNvPr id="21" name="Text 15"/>
          <p:cNvSpPr txBox="1"/>
          <p:nvPr/>
        </p:nvSpPr>
        <p:spPr>
          <a:xfrm>
            <a:off x="1783080" y="4251960"/>
            <a:ext cx="2103120" cy="457200"/>
          </a:xfrm>
          <a:prstGeom prst="rect">
            <a:avLst/>
          </a:prstGeom>
          <a:noFill/>
          <a:ln/>
        </p:spPr>
        <p:txBody>
          <a:bodyPr wrap="square" lIns="0" tIns="0" rIns="0" bIns="0" rtlCol="0" anchor="t"/>
          <a:lstStyle/>
          <a:p>
            <a:pPr indent="0" marL="0">
              <a:buNone/>
            </a:pPr>
            <a:r>
              <a:rPr lang="en-US" sz="2000" b="1" dirty="0">
                <a:solidFill>
                  <a:schemeClr val="tx1"/>
                </a:solidFill>
              </a:rPr>
              <a:t>Puño</a:t>
            </a:r>
            <a:endParaRPr lang="en-US" sz="2000" dirty="0"/>
          </a:p>
        </p:txBody>
      </p:sp>
      <p:sp>
        <p:nvSpPr>
          <p:cNvPr id="22" name="Text 16"/>
          <p:cNvSpPr txBox="1"/>
          <p:nvPr/>
        </p:nvSpPr>
        <p:spPr>
          <a:xfrm>
            <a:off x="868680" y="5074920"/>
            <a:ext cx="2926080" cy="548640"/>
          </a:xfrm>
          <a:prstGeom prst="rect">
            <a:avLst/>
          </a:prstGeom>
          <a:noFill/>
          <a:ln/>
        </p:spPr>
        <p:txBody>
          <a:bodyPr wrap="square" lIns="0" tIns="0" rIns="0" bIns="0" rtlCol="0" anchor="t"/>
          <a:lstStyle/>
          <a:p>
            <a:pPr indent="0" marL="0">
              <a:buNone/>
            </a:pPr>
            <a:r>
              <a:rPr lang="en-US" sz="1600" dirty="0">
                <a:solidFill>
                  <a:schemeClr val="accent3"/>
                </a:solidFill>
              </a:rPr>
              <a:t>Cancela y vuelve a empezar</a:t>
            </a:r>
            <a:endParaRPr lang="en-US" sz="1600" dirty="0"/>
          </a:p>
        </p:txBody>
      </p:sp>
      <p:sp>
        <p:nvSpPr>
          <p:cNvPr id="23" name="Gesto Palma abierta"/>
          <p:cNvSpPr/>
          <p:nvPr/>
        </p:nvSpPr>
        <p:spPr>
          <a:xfrm>
            <a:off x="4297680" y="3840480"/>
            <a:ext cx="3520440" cy="1965960"/>
          </a:xfrm>
          <a:prstGeom prst="roundRect">
            <a:avLst>
              <a:gd name="adj" fmla="val 5581"/>
            </a:avLst>
          </a:prstGeom>
          <a:solidFill>
            <a:schemeClr val="bg2"/>
          </a:solidFill>
          <a:ln/>
        </p:spPr>
      </p:sp>
      <p:sp>
        <p:nvSpPr>
          <p:cNvPr id="24" name="Círculo FaHand"/>
          <p:cNvSpPr/>
          <p:nvPr/>
        </p:nvSpPr>
        <p:spPr>
          <a:xfrm>
            <a:off x="4617720" y="4160520"/>
            <a:ext cx="731520" cy="731520"/>
          </a:xfrm>
          <a:prstGeom prst="ellipse">
            <a:avLst/>
          </a:prstGeom>
          <a:solidFill>
            <a:schemeClr val="accent1"/>
          </a:solidFill>
          <a:ln/>
        </p:spPr>
      </p:sp>
      <p:pic>
        <p:nvPicPr>
          <p:cNvPr id="25" name="Ícono FaHand" descr="preencoded.png">    </p:cNvPr>
          <p:cNvPicPr>
            <a:picLocks noChangeAspect="1"/>
          </p:cNvPicPr>
          <p:nvPr/>
        </p:nvPicPr>
        <p:blipFill>
          <a:blip r:embed="rId5"/>
          <a:stretch>
            <a:fillRect/>
          </a:stretch>
        </p:blipFill>
        <p:spPr>
          <a:xfrm>
            <a:off x="4800600" y="4343400"/>
            <a:ext cx="365760" cy="365760"/>
          </a:xfrm>
          <a:prstGeom prst="rect">
            <a:avLst/>
          </a:prstGeom>
        </p:spPr>
      </p:pic>
      <p:sp>
        <p:nvSpPr>
          <p:cNvPr id="26" name="Text 19"/>
          <p:cNvSpPr txBox="1"/>
          <p:nvPr/>
        </p:nvSpPr>
        <p:spPr>
          <a:xfrm>
            <a:off x="5532120" y="4251960"/>
            <a:ext cx="2103120" cy="457200"/>
          </a:xfrm>
          <a:prstGeom prst="rect">
            <a:avLst/>
          </a:prstGeom>
          <a:noFill/>
          <a:ln/>
        </p:spPr>
        <p:txBody>
          <a:bodyPr wrap="square" lIns="0" tIns="0" rIns="0" bIns="0" rtlCol="0" anchor="t"/>
          <a:lstStyle/>
          <a:p>
            <a:pPr indent="0" marL="0">
              <a:buNone/>
            </a:pPr>
            <a:r>
              <a:rPr lang="en-US" sz="2000" b="1" dirty="0">
                <a:solidFill>
                  <a:schemeClr val="tx1"/>
                </a:solidFill>
              </a:rPr>
              <a:t>Palma abierta</a:t>
            </a:r>
            <a:endParaRPr lang="en-US" sz="2000" dirty="0"/>
          </a:p>
        </p:txBody>
      </p:sp>
      <p:sp>
        <p:nvSpPr>
          <p:cNvPr id="27" name="Text 20"/>
          <p:cNvSpPr txBox="1"/>
          <p:nvPr/>
        </p:nvSpPr>
        <p:spPr>
          <a:xfrm>
            <a:off x="4617720" y="5074920"/>
            <a:ext cx="2926080" cy="548640"/>
          </a:xfrm>
          <a:prstGeom prst="rect">
            <a:avLst/>
          </a:prstGeom>
          <a:noFill/>
          <a:ln/>
        </p:spPr>
        <p:txBody>
          <a:bodyPr wrap="square" lIns="0" tIns="0" rIns="0" bIns="0" rtlCol="0" anchor="t"/>
          <a:lstStyle/>
          <a:p>
            <a:pPr indent="0" marL="0">
              <a:buNone/>
            </a:pPr>
            <a:r>
              <a:rPr lang="en-US" sz="1600" dirty="0">
                <a:solidFill>
                  <a:schemeClr val="accent3"/>
                </a:solidFill>
              </a:rPr>
              <a:t>Pide ayuda a un empleado</a:t>
            </a:r>
            <a:endParaRPr lang="en-US" sz="1600" dirty="0"/>
          </a:p>
        </p:txBody>
      </p:sp>
      <p:sp>
        <p:nvSpPr>
          <p:cNvPr id="28" name="Gesto Turno en pantalla"/>
          <p:cNvSpPr/>
          <p:nvPr/>
        </p:nvSpPr>
        <p:spPr>
          <a:xfrm>
            <a:off x="8046720" y="3840480"/>
            <a:ext cx="3520440" cy="1965960"/>
          </a:xfrm>
          <a:prstGeom prst="roundRect">
            <a:avLst>
              <a:gd name="adj" fmla="val 5581"/>
            </a:avLst>
          </a:prstGeom>
          <a:solidFill>
            <a:schemeClr val="accent1"/>
          </a:solidFill>
          <a:ln/>
        </p:spPr>
      </p:sp>
      <p:sp>
        <p:nvSpPr>
          <p:cNvPr id="29" name="Círculo FaTv"/>
          <p:cNvSpPr/>
          <p:nvPr/>
        </p:nvSpPr>
        <p:spPr>
          <a:xfrm>
            <a:off x="8366760" y="4160520"/>
            <a:ext cx="731520" cy="731520"/>
          </a:xfrm>
          <a:prstGeom prst="ellipse">
            <a:avLst/>
          </a:prstGeom>
          <a:solidFill>
            <a:schemeClr val="tx1"/>
          </a:solidFill>
          <a:ln/>
        </p:spPr>
      </p:sp>
      <p:pic>
        <p:nvPicPr>
          <p:cNvPr id="30" name="Ícono FaTv" descr="preencoded.png">    </p:cNvPr>
          <p:cNvPicPr>
            <a:picLocks noChangeAspect="1"/>
          </p:cNvPicPr>
          <p:nvPr/>
        </p:nvPicPr>
        <p:blipFill>
          <a:blip r:embed="rId6"/>
          <a:stretch>
            <a:fillRect/>
          </a:stretch>
        </p:blipFill>
        <p:spPr>
          <a:xfrm>
            <a:off x="8549640" y="4343400"/>
            <a:ext cx="365760" cy="365760"/>
          </a:xfrm>
          <a:prstGeom prst="rect">
            <a:avLst/>
          </a:prstGeom>
        </p:spPr>
      </p:pic>
      <p:sp>
        <p:nvSpPr>
          <p:cNvPr id="31" name="Text 23"/>
          <p:cNvSpPr txBox="1"/>
          <p:nvPr/>
        </p:nvSpPr>
        <p:spPr>
          <a:xfrm>
            <a:off x="9281160" y="4251960"/>
            <a:ext cx="2103120" cy="457200"/>
          </a:xfrm>
          <a:prstGeom prst="rect">
            <a:avLst/>
          </a:prstGeom>
          <a:noFill/>
          <a:ln/>
        </p:spPr>
        <p:txBody>
          <a:bodyPr wrap="square" lIns="0" tIns="0" rIns="0" bIns="0" rtlCol="0" anchor="t"/>
          <a:lstStyle/>
          <a:p>
            <a:pPr indent="0" marL="0">
              <a:buNone/>
            </a:pPr>
            <a:r>
              <a:rPr lang="en-US" sz="2000" b="1" dirty="0">
                <a:solidFill>
                  <a:schemeClr val="bg1"/>
                </a:solidFill>
              </a:rPr>
              <a:t>Turno en pantalla</a:t>
            </a:r>
            <a:endParaRPr lang="en-US" sz="2000" dirty="0"/>
          </a:p>
        </p:txBody>
      </p:sp>
      <p:sp>
        <p:nvSpPr>
          <p:cNvPr id="32" name="Text 24"/>
          <p:cNvSpPr txBox="1"/>
          <p:nvPr/>
        </p:nvSpPr>
        <p:spPr>
          <a:xfrm>
            <a:off x="8366760" y="5074920"/>
            <a:ext cx="2926080" cy="548640"/>
          </a:xfrm>
          <a:prstGeom prst="rect">
            <a:avLst/>
          </a:prstGeom>
          <a:noFill/>
          <a:ln/>
        </p:spPr>
        <p:txBody>
          <a:bodyPr wrap="square" lIns="0" tIns="0" rIns="0" bIns="0" rtlCol="0" anchor="t"/>
          <a:lstStyle/>
          <a:p>
            <a:pPr indent="0" marL="0">
              <a:buNone/>
            </a:pPr>
            <a:r>
              <a:rPr lang="en-US" sz="1600" dirty="0">
                <a:solidFill>
                  <a:schemeClr val="bg1"/>
                </a:solidFill>
              </a:rPr>
              <a:t>Ve cuándo su pedido está listo</a:t>
            </a:r>
            <a:endParaRPr lang="en-US" sz="16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94415" cy="822960"/>
          </a:xfrm>
          <a:prstGeom prst="rect">
            <a:avLst/>
          </a:prstGeom>
          <a:noFill/>
          <a:ln/>
        </p:spPr>
        <p:txBody>
          <a:bodyPr wrap="square" lIns="0" tIns="0" rIns="0" bIns="0" rtlCol="0" anchor="ctr"/>
          <a:lstStyle/>
          <a:p>
            <a:pPr indent="0" marL="0">
              <a:buNone/>
            </a:pPr>
            <a:r>
              <a:rPr lang="en-US" sz="3600" b="1" dirty="0">
                <a:solidFill>
                  <a:schemeClr val="tx1"/>
                </a:solidFill>
              </a:rPr>
              <a:t>De puntos a decisiones</a:t>
            </a:r>
            <a:endParaRPr lang="en-US" sz="3600" dirty="0"/>
          </a:p>
        </p:txBody>
      </p:sp>
      <p:sp>
        <p:nvSpPr>
          <p:cNvPr id="3" name="Etapa ml5 entrega 21 puntos"/>
          <p:cNvSpPr/>
          <p:nvPr/>
        </p:nvSpPr>
        <p:spPr>
          <a:xfrm>
            <a:off x="548640" y="1645920"/>
            <a:ext cx="3291840" cy="3017520"/>
          </a:xfrm>
          <a:prstGeom prst="roundRect">
            <a:avLst>
              <a:gd name="adj" fmla="val 3636"/>
            </a:avLst>
          </a:prstGeom>
          <a:solidFill>
            <a:schemeClr val="bg2"/>
          </a:solidFill>
          <a:ln/>
        </p:spPr>
      </p:sp>
      <p:sp>
        <p:nvSpPr>
          <p:cNvPr id="4" name="Círculo FaCamera"/>
          <p:cNvSpPr/>
          <p:nvPr/>
        </p:nvSpPr>
        <p:spPr>
          <a:xfrm>
            <a:off x="868680" y="1920240"/>
            <a:ext cx="731520" cy="731520"/>
          </a:xfrm>
          <a:prstGeom prst="ellipse">
            <a:avLst/>
          </a:prstGeom>
          <a:solidFill>
            <a:schemeClr val="accent1"/>
          </a:solidFill>
          <a:ln/>
        </p:spPr>
      </p:sp>
      <p:pic>
        <p:nvPicPr>
          <p:cNvPr id="5" name="Ícono FaCamera" descr="preencoded.png">    </p:cNvPr>
          <p:cNvPicPr>
            <a:picLocks noChangeAspect="1"/>
          </p:cNvPicPr>
          <p:nvPr/>
        </p:nvPicPr>
        <p:blipFill>
          <a:blip r:embed="rId1"/>
          <a:stretch>
            <a:fillRect/>
          </a:stretch>
        </p:blipFill>
        <p:spPr>
          <a:xfrm>
            <a:off x="1051560" y="2103120"/>
            <a:ext cx="365760" cy="365760"/>
          </a:xfrm>
          <a:prstGeom prst="rect">
            <a:avLst/>
          </a:prstGeom>
        </p:spPr>
      </p:pic>
      <p:sp>
        <p:nvSpPr>
          <p:cNvPr id="6" name="Text 3"/>
          <p:cNvSpPr txBox="1"/>
          <p:nvPr/>
        </p:nvSpPr>
        <p:spPr>
          <a:xfrm>
            <a:off x="868680" y="2834640"/>
            <a:ext cx="2743200" cy="731520"/>
          </a:xfrm>
          <a:prstGeom prst="rect">
            <a:avLst/>
          </a:prstGeom>
          <a:noFill/>
          <a:ln/>
        </p:spPr>
        <p:txBody>
          <a:bodyPr wrap="square" lIns="0" tIns="0" rIns="0" bIns="0" rtlCol="0" anchor="t"/>
          <a:lstStyle/>
          <a:p>
            <a:pPr indent="0" marL="0">
              <a:buNone/>
            </a:pPr>
            <a:r>
              <a:rPr lang="en-US" sz="2000" b="1" dirty="0">
                <a:solidFill>
                  <a:schemeClr val="tx1"/>
                </a:solidFill>
              </a:rPr>
              <a:t>ml5 entrega 21 puntos</a:t>
            </a:r>
            <a:endParaRPr lang="en-US" sz="2000" dirty="0"/>
          </a:p>
        </p:txBody>
      </p:sp>
      <p:sp>
        <p:nvSpPr>
          <p:cNvPr id="7" name="Text 4"/>
          <p:cNvSpPr txBox="1"/>
          <p:nvPr/>
        </p:nvSpPr>
        <p:spPr>
          <a:xfrm>
            <a:off x="868680" y="3566160"/>
            <a:ext cx="2743200" cy="1005840"/>
          </a:xfrm>
          <a:prstGeom prst="rect">
            <a:avLst/>
          </a:prstGeom>
          <a:noFill/>
          <a:ln/>
        </p:spPr>
        <p:txBody>
          <a:bodyPr wrap="square" lIns="0" tIns="0" rIns="0" bIns="0" rtlCol="0" anchor="t"/>
          <a:lstStyle/>
          <a:p>
            <a:pPr indent="0" marL="0">
              <a:buNone/>
            </a:pPr>
            <a:r>
              <a:rPr lang="en-US" sz="1600" dirty="0">
                <a:solidFill>
                  <a:schemeClr val="accent3"/>
                </a:solidFill>
              </a:rPr>
              <a:t>Unas 20 veces por segundo</a:t>
            </a:r>
            <a:endParaRPr lang="en-US" sz="1600" dirty="0"/>
          </a:p>
        </p:txBody>
      </p:sp>
      <p:sp>
        <p:nvSpPr>
          <p:cNvPr id="8" name="Flecha"/>
          <p:cNvSpPr/>
          <p:nvPr/>
        </p:nvSpPr>
        <p:spPr>
          <a:xfrm>
            <a:off x="3913632" y="2971800"/>
            <a:ext cx="457200" cy="320040"/>
          </a:xfrm>
          <a:prstGeom prst="rightArrow">
            <a:avLst/>
          </a:prstGeom>
          <a:solidFill>
            <a:schemeClr val="accent1"/>
          </a:solidFill>
          <a:ln/>
        </p:spPr>
      </p:sp>
      <p:sp>
        <p:nvSpPr>
          <p:cNvPr id="9" name="Etapa Nuestras reglas los leen"/>
          <p:cNvSpPr/>
          <p:nvPr/>
        </p:nvSpPr>
        <p:spPr>
          <a:xfrm>
            <a:off x="4343400" y="1645920"/>
            <a:ext cx="3291840" cy="3017520"/>
          </a:xfrm>
          <a:prstGeom prst="roundRect">
            <a:avLst>
              <a:gd name="adj" fmla="val 3636"/>
            </a:avLst>
          </a:prstGeom>
          <a:solidFill>
            <a:schemeClr val="tx1"/>
          </a:solidFill>
          <a:ln/>
        </p:spPr>
      </p:sp>
      <p:sp>
        <p:nvSpPr>
          <p:cNvPr id="10" name="Círculo FaRuler"/>
          <p:cNvSpPr/>
          <p:nvPr/>
        </p:nvSpPr>
        <p:spPr>
          <a:xfrm>
            <a:off x="4663440" y="1920240"/>
            <a:ext cx="731520" cy="731520"/>
          </a:xfrm>
          <a:prstGeom prst="ellipse">
            <a:avLst/>
          </a:prstGeom>
          <a:solidFill>
            <a:schemeClr val="accent2"/>
          </a:solidFill>
          <a:ln/>
        </p:spPr>
      </p:sp>
      <p:pic>
        <p:nvPicPr>
          <p:cNvPr id="11" name="Ícono FaRuler" descr="preencoded.png">    </p:cNvPr>
          <p:cNvPicPr>
            <a:picLocks noChangeAspect="1"/>
          </p:cNvPicPr>
          <p:nvPr/>
        </p:nvPicPr>
        <p:blipFill>
          <a:blip r:embed="rId2"/>
          <a:stretch>
            <a:fillRect/>
          </a:stretch>
        </p:blipFill>
        <p:spPr>
          <a:xfrm>
            <a:off x="4846320" y="2103120"/>
            <a:ext cx="365760" cy="365760"/>
          </a:xfrm>
          <a:prstGeom prst="rect">
            <a:avLst/>
          </a:prstGeom>
        </p:spPr>
      </p:pic>
      <p:sp>
        <p:nvSpPr>
          <p:cNvPr id="12" name="Text 8"/>
          <p:cNvSpPr txBox="1"/>
          <p:nvPr/>
        </p:nvSpPr>
        <p:spPr>
          <a:xfrm>
            <a:off x="4663440" y="2834640"/>
            <a:ext cx="2743200" cy="731520"/>
          </a:xfrm>
          <a:prstGeom prst="rect">
            <a:avLst/>
          </a:prstGeom>
          <a:noFill/>
          <a:ln/>
        </p:spPr>
        <p:txBody>
          <a:bodyPr wrap="square" lIns="0" tIns="0" rIns="0" bIns="0" rtlCol="0" anchor="t"/>
          <a:lstStyle/>
          <a:p>
            <a:pPr indent="0" marL="0">
              <a:buNone/>
            </a:pPr>
            <a:r>
              <a:rPr lang="en-US" sz="2000" b="1" dirty="0">
                <a:solidFill>
                  <a:schemeClr val="bg1"/>
                </a:solidFill>
              </a:rPr>
              <a:t>Nuestras reglas los leen</a:t>
            </a:r>
            <a:endParaRPr lang="en-US" sz="2000" dirty="0"/>
          </a:p>
        </p:txBody>
      </p:sp>
      <p:sp>
        <p:nvSpPr>
          <p:cNvPr id="13" name="Text 9"/>
          <p:cNvSpPr txBox="1"/>
          <p:nvPr/>
        </p:nvSpPr>
        <p:spPr>
          <a:xfrm>
            <a:off x="4663440" y="3566160"/>
            <a:ext cx="2743200" cy="1005840"/>
          </a:xfrm>
          <a:prstGeom prst="rect">
            <a:avLst/>
          </a:prstGeom>
          <a:noFill/>
          <a:ln/>
        </p:spPr>
        <p:txBody>
          <a:bodyPr wrap="square" lIns="0" tIns="0" rIns="0" bIns="0" rtlCol="0" anchor="t"/>
          <a:lstStyle/>
          <a:p>
            <a:pPr indent="0" marL="0">
              <a:buNone/>
            </a:pPr>
            <a:r>
              <a:rPr lang="en-US" sz="1600" dirty="0">
                <a:solidFill>
                  <a:srgbClr val="E9DCCB"/>
                </a:solidFill>
              </a:rPr>
              <a:t>Un dedo está estirado si su punta queda lejos de la muñeca</a:t>
            </a:r>
            <a:endParaRPr lang="en-US" sz="1600" dirty="0"/>
          </a:p>
        </p:txBody>
      </p:sp>
      <p:sp>
        <p:nvSpPr>
          <p:cNvPr id="14" name="Flecha"/>
          <p:cNvSpPr/>
          <p:nvPr/>
        </p:nvSpPr>
        <p:spPr>
          <a:xfrm>
            <a:off x="7708392" y="2971800"/>
            <a:ext cx="457200" cy="320040"/>
          </a:xfrm>
          <a:prstGeom prst="rightArrow">
            <a:avLst/>
          </a:prstGeom>
          <a:solidFill>
            <a:schemeClr val="accent1"/>
          </a:solidFill>
          <a:ln/>
        </p:spPr>
      </p:sp>
      <p:sp>
        <p:nvSpPr>
          <p:cNvPr id="15" name="Etapa Se vuelve una acción"/>
          <p:cNvSpPr/>
          <p:nvPr/>
        </p:nvSpPr>
        <p:spPr>
          <a:xfrm>
            <a:off x="8138160" y="1645920"/>
            <a:ext cx="3291840" cy="3017520"/>
          </a:xfrm>
          <a:prstGeom prst="roundRect">
            <a:avLst>
              <a:gd name="adj" fmla="val 3636"/>
            </a:avLst>
          </a:prstGeom>
          <a:solidFill>
            <a:schemeClr val="bg2"/>
          </a:solidFill>
          <a:ln/>
        </p:spPr>
      </p:sp>
      <p:sp>
        <p:nvSpPr>
          <p:cNvPr id="16" name="Círculo FaCircleCheck"/>
          <p:cNvSpPr/>
          <p:nvPr/>
        </p:nvSpPr>
        <p:spPr>
          <a:xfrm>
            <a:off x="8458200" y="1920240"/>
            <a:ext cx="731520" cy="731520"/>
          </a:xfrm>
          <a:prstGeom prst="ellipse">
            <a:avLst/>
          </a:prstGeom>
          <a:solidFill>
            <a:schemeClr val="accent1"/>
          </a:solidFill>
          <a:ln/>
        </p:spPr>
      </p:sp>
      <p:pic>
        <p:nvPicPr>
          <p:cNvPr id="17" name="Ícono FaCircleCheck" descr="preencoded.png">    </p:cNvPr>
          <p:cNvPicPr>
            <a:picLocks noChangeAspect="1"/>
          </p:cNvPicPr>
          <p:nvPr/>
        </p:nvPicPr>
        <p:blipFill>
          <a:blip r:embed="rId3"/>
          <a:stretch>
            <a:fillRect/>
          </a:stretch>
        </p:blipFill>
        <p:spPr>
          <a:xfrm>
            <a:off x="8641080" y="2103120"/>
            <a:ext cx="365760" cy="365760"/>
          </a:xfrm>
          <a:prstGeom prst="rect">
            <a:avLst/>
          </a:prstGeom>
        </p:spPr>
      </p:pic>
      <p:sp>
        <p:nvSpPr>
          <p:cNvPr id="18" name="Text 13"/>
          <p:cNvSpPr txBox="1"/>
          <p:nvPr/>
        </p:nvSpPr>
        <p:spPr>
          <a:xfrm>
            <a:off x="8458200" y="2834640"/>
            <a:ext cx="2743200" cy="731520"/>
          </a:xfrm>
          <a:prstGeom prst="rect">
            <a:avLst/>
          </a:prstGeom>
          <a:noFill/>
          <a:ln/>
        </p:spPr>
        <p:txBody>
          <a:bodyPr wrap="square" lIns="0" tIns="0" rIns="0" bIns="0" rtlCol="0" anchor="t"/>
          <a:lstStyle/>
          <a:p>
            <a:pPr indent="0" marL="0">
              <a:buNone/>
            </a:pPr>
            <a:r>
              <a:rPr lang="en-US" sz="2000" b="1" dirty="0">
                <a:solidFill>
                  <a:schemeClr val="tx1"/>
                </a:solidFill>
              </a:rPr>
              <a:t>Se vuelve una acción</a:t>
            </a:r>
            <a:endParaRPr lang="en-US" sz="2000" dirty="0"/>
          </a:p>
        </p:txBody>
      </p:sp>
      <p:sp>
        <p:nvSpPr>
          <p:cNvPr id="19" name="Text 14"/>
          <p:cNvSpPr txBox="1"/>
          <p:nvPr/>
        </p:nvSpPr>
        <p:spPr>
          <a:xfrm>
            <a:off x="8458200" y="3566160"/>
            <a:ext cx="2743200" cy="1005840"/>
          </a:xfrm>
          <a:prstGeom prst="rect">
            <a:avLst/>
          </a:prstGeom>
          <a:noFill/>
          <a:ln/>
        </p:spPr>
        <p:txBody>
          <a:bodyPr wrap="square" lIns="0" tIns="0" rIns="0" bIns="0" rtlCol="0" anchor="t"/>
          <a:lstStyle/>
          <a:p>
            <a:pPr indent="0" marL="0">
              <a:buNone/>
            </a:pPr>
            <a:r>
              <a:rPr lang="en-US" sz="1600" dirty="0">
                <a:solidFill>
                  <a:schemeClr val="accent3"/>
                </a:solidFill>
              </a:rPr>
              <a:t>Solo si el gesto se sostiene 1,5 segundos</a:t>
            </a:r>
            <a:endParaRPr lang="en-US" sz="1600" dirty="0"/>
          </a:p>
        </p:txBody>
      </p:sp>
      <p:sp>
        <p:nvSpPr>
          <p:cNvPr id="20" name="Text 15"/>
          <p:cNvSpPr txBox="1"/>
          <p:nvPr/>
        </p:nvSpPr>
        <p:spPr>
          <a:xfrm>
            <a:off x="548640" y="4983480"/>
            <a:ext cx="11094415" cy="914400"/>
          </a:xfrm>
          <a:prstGeom prst="rect">
            <a:avLst/>
          </a:prstGeom>
          <a:noFill/>
          <a:ln/>
        </p:spPr>
        <p:txBody>
          <a:bodyPr wrap="square" lIns="0" tIns="0" rIns="0" bIns="0" rtlCol="0" anchor="t"/>
          <a:lstStyle/>
          <a:p>
            <a:pPr indent="0" marL="0">
              <a:buNone/>
            </a:pPr>
            <a:r>
              <a:rPr lang="en-US" sz="1800" dirty="0">
                <a:solidFill>
                  <a:schemeClr val="tx1"/>
                </a:solidFill>
              </a:rPr>
              <a:t>Contando cuántos dedos están estirados sabemos qué combo quiere. Pedir que el gesto se sostenga evita que un movimiento casual haga un pedido.</a:t>
            </a:r>
            <a:endParaRPr lang="en-US" sz="18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94415" cy="822960"/>
          </a:xfrm>
          <a:prstGeom prst="rect">
            <a:avLst/>
          </a:prstGeom>
          <a:noFill/>
          <a:ln/>
        </p:spPr>
        <p:txBody>
          <a:bodyPr wrap="square" lIns="0" tIns="0" rIns="0" bIns="0" rtlCol="0" anchor="ctr"/>
          <a:lstStyle/>
          <a:p>
            <a:pPr indent="0" marL="0">
              <a:buNone/>
            </a:pPr>
            <a:r>
              <a:rPr lang="en-US" sz="3600" b="1" dirty="0">
                <a:solidFill>
                  <a:schemeClr val="tx1"/>
                </a:solidFill>
              </a:rPr>
              <a:t>Cómo encaja en la aplicación</a:t>
            </a:r>
            <a:endParaRPr lang="en-US" sz="3600" dirty="0"/>
          </a:p>
        </p:txBody>
      </p:sp>
      <p:sp>
        <p:nvSpPr>
          <p:cNvPr id="3" name="Pieza Navegador"/>
          <p:cNvSpPr/>
          <p:nvPr/>
        </p:nvSpPr>
        <p:spPr>
          <a:xfrm>
            <a:off x="548640" y="1645920"/>
            <a:ext cx="3291840" cy="2834640"/>
          </a:xfrm>
          <a:prstGeom prst="roundRect">
            <a:avLst>
              <a:gd name="adj" fmla="val 3871"/>
            </a:avLst>
          </a:prstGeom>
          <a:solidFill>
            <a:schemeClr val="bg2"/>
          </a:solidFill>
          <a:ln/>
        </p:spPr>
      </p:sp>
      <p:sp>
        <p:nvSpPr>
          <p:cNvPr id="4" name="Círculo FaLaptop"/>
          <p:cNvSpPr/>
          <p:nvPr/>
        </p:nvSpPr>
        <p:spPr>
          <a:xfrm>
            <a:off x="868680" y="1920240"/>
            <a:ext cx="731520" cy="731520"/>
          </a:xfrm>
          <a:prstGeom prst="ellipse">
            <a:avLst/>
          </a:prstGeom>
          <a:solidFill>
            <a:schemeClr val="accent1"/>
          </a:solidFill>
          <a:ln/>
        </p:spPr>
      </p:sp>
      <p:pic>
        <p:nvPicPr>
          <p:cNvPr id="5" name="Ícono FaLaptop" descr="preencoded.png">    </p:cNvPr>
          <p:cNvPicPr>
            <a:picLocks noChangeAspect="1"/>
          </p:cNvPicPr>
          <p:nvPr/>
        </p:nvPicPr>
        <p:blipFill>
          <a:blip r:embed="rId1"/>
          <a:stretch>
            <a:fillRect/>
          </a:stretch>
        </p:blipFill>
        <p:spPr>
          <a:xfrm>
            <a:off x="1051560" y="2103120"/>
            <a:ext cx="365760" cy="365760"/>
          </a:xfrm>
          <a:prstGeom prst="rect">
            <a:avLst/>
          </a:prstGeom>
        </p:spPr>
      </p:pic>
      <p:sp>
        <p:nvSpPr>
          <p:cNvPr id="6" name="Text 3"/>
          <p:cNvSpPr txBox="1"/>
          <p:nvPr/>
        </p:nvSpPr>
        <p:spPr>
          <a:xfrm>
            <a:off x="868680" y="2834640"/>
            <a:ext cx="2743200" cy="457200"/>
          </a:xfrm>
          <a:prstGeom prst="rect">
            <a:avLst/>
          </a:prstGeom>
          <a:noFill/>
          <a:ln/>
        </p:spPr>
        <p:txBody>
          <a:bodyPr wrap="square" lIns="0" tIns="0" rIns="0" bIns="0" rtlCol="0" anchor="t"/>
          <a:lstStyle/>
          <a:p>
            <a:pPr indent="0" marL="0">
              <a:buNone/>
            </a:pPr>
            <a:r>
              <a:rPr lang="en-US" sz="2200" b="1" dirty="0">
                <a:solidFill>
                  <a:schemeClr val="tx1"/>
                </a:solidFill>
              </a:rPr>
              <a:t>Navegador</a:t>
            </a:r>
            <a:endParaRPr lang="en-US" sz="2200" dirty="0"/>
          </a:p>
        </p:txBody>
      </p:sp>
      <p:sp>
        <p:nvSpPr>
          <p:cNvPr id="7" name="Text 4"/>
          <p:cNvSpPr txBox="1"/>
          <p:nvPr/>
        </p:nvSpPr>
        <p:spPr>
          <a:xfrm>
            <a:off x="868680" y="3337560"/>
            <a:ext cx="2743200" cy="1005840"/>
          </a:xfrm>
          <a:prstGeom prst="rect">
            <a:avLst/>
          </a:prstGeom>
          <a:noFill/>
          <a:ln/>
        </p:spPr>
        <p:txBody>
          <a:bodyPr wrap="square" lIns="0" tIns="0" rIns="0" bIns="0" rtlCol="0" anchor="t"/>
          <a:lstStyle/>
          <a:p>
            <a:pPr indent="0" marL="0">
              <a:buNone/>
            </a:pPr>
            <a:r>
              <a:rPr lang="en-US" sz="1600" dirty="0">
                <a:solidFill>
                  <a:schemeClr val="accent3"/>
                </a:solidFill>
              </a:rPr>
              <a:t>Cámara, ml5 y nuestras reglas: toda la inteligencia está aquí</a:t>
            </a:r>
            <a:endParaRPr lang="en-US" sz="1600" dirty="0"/>
          </a:p>
        </p:txBody>
      </p:sp>
      <p:sp>
        <p:nvSpPr>
          <p:cNvPr id="8" name="Flecha"/>
          <p:cNvSpPr/>
          <p:nvPr/>
        </p:nvSpPr>
        <p:spPr>
          <a:xfrm>
            <a:off x="3913632" y="2926080"/>
            <a:ext cx="457200" cy="320040"/>
          </a:xfrm>
          <a:prstGeom prst="rightArrow">
            <a:avLst/>
          </a:prstGeom>
          <a:solidFill>
            <a:schemeClr val="accent1"/>
          </a:solidFill>
          <a:ln/>
        </p:spPr>
      </p:sp>
      <p:sp>
        <p:nvSpPr>
          <p:cNvPr id="9" name="Pieza Servidor"/>
          <p:cNvSpPr/>
          <p:nvPr/>
        </p:nvSpPr>
        <p:spPr>
          <a:xfrm>
            <a:off x="4343400" y="1645920"/>
            <a:ext cx="3291840" cy="2834640"/>
          </a:xfrm>
          <a:prstGeom prst="roundRect">
            <a:avLst>
              <a:gd name="adj" fmla="val 3871"/>
            </a:avLst>
          </a:prstGeom>
          <a:solidFill>
            <a:schemeClr val="bg2"/>
          </a:solidFill>
          <a:ln/>
        </p:spPr>
      </p:sp>
      <p:sp>
        <p:nvSpPr>
          <p:cNvPr id="10" name="Círculo FaServer"/>
          <p:cNvSpPr/>
          <p:nvPr/>
        </p:nvSpPr>
        <p:spPr>
          <a:xfrm>
            <a:off x="4663440" y="1920240"/>
            <a:ext cx="731520" cy="731520"/>
          </a:xfrm>
          <a:prstGeom prst="ellipse">
            <a:avLst/>
          </a:prstGeom>
          <a:solidFill>
            <a:schemeClr val="accent1"/>
          </a:solidFill>
          <a:ln/>
        </p:spPr>
      </p:sp>
      <p:pic>
        <p:nvPicPr>
          <p:cNvPr id="11" name="Ícono FaServer" descr="preencoded.png">    </p:cNvPr>
          <p:cNvPicPr>
            <a:picLocks noChangeAspect="1"/>
          </p:cNvPicPr>
          <p:nvPr/>
        </p:nvPicPr>
        <p:blipFill>
          <a:blip r:embed="rId2"/>
          <a:stretch>
            <a:fillRect/>
          </a:stretch>
        </p:blipFill>
        <p:spPr>
          <a:xfrm>
            <a:off x="4846320" y="2103120"/>
            <a:ext cx="365760" cy="365760"/>
          </a:xfrm>
          <a:prstGeom prst="rect">
            <a:avLst/>
          </a:prstGeom>
        </p:spPr>
      </p:pic>
      <p:sp>
        <p:nvSpPr>
          <p:cNvPr id="12" name="Text 8"/>
          <p:cNvSpPr txBox="1"/>
          <p:nvPr/>
        </p:nvSpPr>
        <p:spPr>
          <a:xfrm>
            <a:off x="4663440" y="2834640"/>
            <a:ext cx="2743200" cy="457200"/>
          </a:xfrm>
          <a:prstGeom prst="rect">
            <a:avLst/>
          </a:prstGeom>
          <a:noFill/>
          <a:ln/>
        </p:spPr>
        <p:txBody>
          <a:bodyPr wrap="square" lIns="0" tIns="0" rIns="0" bIns="0" rtlCol="0" anchor="t"/>
          <a:lstStyle/>
          <a:p>
            <a:pPr indent="0" marL="0">
              <a:buNone/>
            </a:pPr>
            <a:r>
              <a:rPr lang="en-US" sz="2200" b="1" dirty="0">
                <a:solidFill>
                  <a:schemeClr val="tx1"/>
                </a:solidFill>
              </a:rPr>
              <a:t>Servidor</a:t>
            </a:r>
            <a:endParaRPr lang="en-US" sz="2200" dirty="0"/>
          </a:p>
        </p:txBody>
      </p:sp>
      <p:sp>
        <p:nvSpPr>
          <p:cNvPr id="13" name="Text 9"/>
          <p:cNvSpPr txBox="1"/>
          <p:nvPr/>
        </p:nvSpPr>
        <p:spPr>
          <a:xfrm>
            <a:off x="4663440" y="3337560"/>
            <a:ext cx="2743200" cy="1005840"/>
          </a:xfrm>
          <a:prstGeom prst="rect">
            <a:avLst/>
          </a:prstGeom>
          <a:noFill/>
          <a:ln/>
        </p:spPr>
        <p:txBody>
          <a:bodyPr wrap="square" lIns="0" tIns="0" rIns="0" bIns="0" rtlCol="0" anchor="t"/>
          <a:lstStyle/>
          <a:p>
            <a:pPr indent="0" marL="0">
              <a:buNone/>
            </a:pPr>
            <a:r>
              <a:rPr lang="en-US" sz="1600" dirty="0">
                <a:solidFill>
                  <a:schemeClr val="accent3"/>
                </a:solidFill>
              </a:rPr>
              <a:t>Recibe un pedido normal, igual que si se hubiera tocado un botón</a:t>
            </a:r>
            <a:endParaRPr lang="en-US" sz="1600" dirty="0"/>
          </a:p>
        </p:txBody>
      </p:sp>
      <p:sp>
        <p:nvSpPr>
          <p:cNvPr id="14" name="Flecha"/>
          <p:cNvSpPr/>
          <p:nvPr/>
        </p:nvSpPr>
        <p:spPr>
          <a:xfrm>
            <a:off x="7708392" y="2926080"/>
            <a:ext cx="457200" cy="320040"/>
          </a:xfrm>
          <a:prstGeom prst="rightArrow">
            <a:avLst/>
          </a:prstGeom>
          <a:solidFill>
            <a:schemeClr val="accent1"/>
          </a:solidFill>
          <a:ln/>
        </p:spPr>
      </p:sp>
      <p:sp>
        <p:nvSpPr>
          <p:cNvPr id="15" name="Pieza Pantallas"/>
          <p:cNvSpPr/>
          <p:nvPr/>
        </p:nvSpPr>
        <p:spPr>
          <a:xfrm>
            <a:off x="8138160" y="1645920"/>
            <a:ext cx="3291840" cy="2834640"/>
          </a:xfrm>
          <a:prstGeom prst="roundRect">
            <a:avLst>
              <a:gd name="adj" fmla="val 3871"/>
            </a:avLst>
          </a:prstGeom>
          <a:solidFill>
            <a:schemeClr val="bg2"/>
          </a:solidFill>
          <a:ln/>
        </p:spPr>
      </p:sp>
      <p:sp>
        <p:nvSpPr>
          <p:cNvPr id="16" name="Círculo FaDisplay"/>
          <p:cNvSpPr/>
          <p:nvPr/>
        </p:nvSpPr>
        <p:spPr>
          <a:xfrm>
            <a:off x="8458200" y="1920240"/>
            <a:ext cx="731520" cy="731520"/>
          </a:xfrm>
          <a:prstGeom prst="ellipse">
            <a:avLst/>
          </a:prstGeom>
          <a:solidFill>
            <a:schemeClr val="accent1"/>
          </a:solidFill>
          <a:ln/>
        </p:spPr>
      </p:sp>
      <p:pic>
        <p:nvPicPr>
          <p:cNvPr id="17" name="Ícono FaDisplay" descr="preencoded.png">    </p:cNvPr>
          <p:cNvPicPr>
            <a:picLocks noChangeAspect="1"/>
          </p:cNvPicPr>
          <p:nvPr/>
        </p:nvPicPr>
        <p:blipFill>
          <a:blip r:embed="rId3"/>
          <a:stretch>
            <a:fillRect/>
          </a:stretch>
        </p:blipFill>
        <p:spPr>
          <a:xfrm>
            <a:off x="8641080" y="2103120"/>
            <a:ext cx="365760" cy="365760"/>
          </a:xfrm>
          <a:prstGeom prst="rect">
            <a:avLst/>
          </a:prstGeom>
        </p:spPr>
      </p:pic>
      <p:sp>
        <p:nvSpPr>
          <p:cNvPr id="18" name="Text 13"/>
          <p:cNvSpPr txBox="1"/>
          <p:nvPr/>
        </p:nvSpPr>
        <p:spPr>
          <a:xfrm>
            <a:off x="8458200" y="2834640"/>
            <a:ext cx="2743200" cy="457200"/>
          </a:xfrm>
          <a:prstGeom prst="rect">
            <a:avLst/>
          </a:prstGeom>
          <a:noFill/>
          <a:ln/>
        </p:spPr>
        <p:txBody>
          <a:bodyPr wrap="square" lIns="0" tIns="0" rIns="0" bIns="0" rtlCol="0" anchor="t"/>
          <a:lstStyle/>
          <a:p>
            <a:pPr indent="0" marL="0">
              <a:buNone/>
            </a:pPr>
            <a:r>
              <a:rPr lang="en-US" sz="2200" b="1" dirty="0">
                <a:solidFill>
                  <a:schemeClr val="tx1"/>
                </a:solidFill>
              </a:rPr>
              <a:t>Pantallas</a:t>
            </a:r>
            <a:endParaRPr lang="en-US" sz="2200" dirty="0"/>
          </a:p>
        </p:txBody>
      </p:sp>
      <p:sp>
        <p:nvSpPr>
          <p:cNvPr id="19" name="Text 14"/>
          <p:cNvSpPr txBox="1"/>
          <p:nvPr/>
        </p:nvSpPr>
        <p:spPr>
          <a:xfrm>
            <a:off x="8458200" y="3337560"/>
            <a:ext cx="2743200" cy="1005840"/>
          </a:xfrm>
          <a:prstGeom prst="rect">
            <a:avLst/>
          </a:prstGeom>
          <a:noFill/>
          <a:ln/>
        </p:spPr>
        <p:txBody>
          <a:bodyPr wrap="square" lIns="0" tIns="0" rIns="0" bIns="0" rtlCol="0" anchor="t"/>
          <a:lstStyle/>
          <a:p>
            <a:pPr indent="0" marL="0">
              <a:buNone/>
            </a:pPr>
            <a:r>
              <a:rPr lang="en-US" sz="1600" dirty="0">
                <a:solidFill>
                  <a:schemeClr val="accent3"/>
                </a:solidFill>
              </a:rPr>
              <a:t>Cocina recibe los avisos de ayuda; los clientes ven su turno</a:t>
            </a:r>
            <a:endParaRPr lang="en-US" sz="1600" dirty="0"/>
          </a:p>
        </p:txBody>
      </p:sp>
      <p:sp>
        <p:nvSpPr>
          <p:cNvPr id="20" name="Mensaje"/>
          <p:cNvSpPr/>
          <p:nvPr/>
        </p:nvSpPr>
        <p:spPr>
          <a:xfrm>
            <a:off x="548640" y="4846320"/>
            <a:ext cx="11094415" cy="1097280"/>
          </a:xfrm>
          <a:prstGeom prst="roundRect">
            <a:avLst>
              <a:gd name="adj" fmla="val 10000"/>
            </a:avLst>
          </a:prstGeom>
          <a:solidFill>
            <a:schemeClr val="tx1"/>
          </a:solidFill>
          <a:ln/>
        </p:spPr>
      </p:sp>
      <p:sp>
        <p:nvSpPr>
          <p:cNvPr id="21" name="Text 16"/>
          <p:cNvSpPr txBox="1"/>
          <p:nvPr/>
        </p:nvSpPr>
        <p:spPr>
          <a:xfrm>
            <a:off x="914400" y="4846320"/>
            <a:ext cx="10362895" cy="1097280"/>
          </a:xfrm>
          <a:prstGeom prst="rect">
            <a:avLst/>
          </a:prstGeom>
          <a:noFill/>
          <a:ln/>
        </p:spPr>
        <p:txBody>
          <a:bodyPr wrap="square" lIns="0" tIns="0" rIns="0" bIns="0" rtlCol="0" anchor="ctr"/>
          <a:lstStyle/>
          <a:p>
            <a:pPr indent="0" marL="0">
              <a:buNone/>
            </a:pPr>
            <a:r>
              <a:rPr lang="en-US" sz="1800" b="1" dirty="0">
                <a:solidFill>
                  <a:schemeClr val="accent2"/>
                </a:solidFill>
              </a:rPr>
              <a:t>La lógica de pedidos no cambió: </a:t>
            </a:r>
            <a:pPr indent="0" marL="0">
              <a:buNone/>
            </a:pPr>
            <a:r>
              <a:rPr lang="en-US" sz="1800" dirty="0">
                <a:solidFill>
                  <a:schemeClr val="bg1"/>
                </a:solidFill>
              </a:rPr>
              <a:t>el gesto solo llena el mismo formulario que ya existía.</a:t>
            </a:r>
            <a:endParaRPr lang="en-US" sz="18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94415" cy="822960"/>
          </a:xfrm>
          <a:prstGeom prst="rect">
            <a:avLst/>
          </a:prstGeom>
          <a:noFill/>
          <a:ln/>
        </p:spPr>
        <p:txBody>
          <a:bodyPr wrap="square" lIns="0" tIns="0" rIns="0" bIns="0" rtlCol="0" anchor="ctr"/>
          <a:lstStyle/>
          <a:p>
            <a:pPr indent="0" marL="0">
              <a:buNone/>
            </a:pPr>
            <a:r>
              <a:rPr lang="en-US" sz="3600" b="1" dirty="0">
                <a:solidFill>
                  <a:schemeClr val="tx1"/>
                </a:solidFill>
              </a:rPr>
              <a:t>Qué logramos</a:t>
            </a:r>
            <a:endParaRPr lang="en-US" sz="3600" dirty="0"/>
          </a:p>
        </p:txBody>
      </p:sp>
      <p:sp>
        <p:nvSpPr>
          <p:cNvPr id="3" name="Cifra imágenes enviadas al servidor"/>
          <p:cNvSpPr/>
          <p:nvPr/>
        </p:nvSpPr>
        <p:spPr>
          <a:xfrm>
            <a:off x="548640" y="1737360"/>
            <a:ext cx="2606040" cy="2926080"/>
          </a:xfrm>
          <a:prstGeom prst="roundRect">
            <a:avLst>
              <a:gd name="adj" fmla="val 4211"/>
            </a:avLst>
          </a:prstGeom>
          <a:solidFill>
            <a:schemeClr val="bg2"/>
          </a:solidFill>
          <a:ln/>
        </p:spPr>
      </p:sp>
      <p:sp>
        <p:nvSpPr>
          <p:cNvPr id="4" name="Text 2"/>
          <p:cNvSpPr txBox="1"/>
          <p:nvPr/>
        </p:nvSpPr>
        <p:spPr>
          <a:xfrm>
            <a:off x="822960" y="2103120"/>
            <a:ext cx="2103120" cy="1188720"/>
          </a:xfrm>
          <a:prstGeom prst="rect">
            <a:avLst/>
          </a:prstGeom>
          <a:noFill/>
          <a:ln/>
        </p:spPr>
        <p:txBody>
          <a:bodyPr wrap="square" lIns="0" tIns="0" rIns="0" bIns="0" rtlCol="0" anchor="t"/>
          <a:lstStyle/>
          <a:p>
            <a:pPr indent="0" marL="0">
              <a:buNone/>
            </a:pPr>
            <a:r>
              <a:rPr lang="en-US" sz="5400" b="1" dirty="0">
                <a:solidFill>
                  <a:schemeClr val="accent1"/>
                </a:solidFill>
                <a:latin typeface="Cambria" pitchFamily="34" charset="0"/>
                <a:ea typeface="Cambria" pitchFamily="34" charset="-122"/>
                <a:cs typeface="Cambria" pitchFamily="34" charset="-120"/>
              </a:rPr>
              <a:t>0</a:t>
            </a:r>
            <a:endParaRPr lang="en-US" sz="5400" dirty="0"/>
          </a:p>
        </p:txBody>
      </p:sp>
      <p:sp>
        <p:nvSpPr>
          <p:cNvPr id="5" name="Text 3"/>
          <p:cNvSpPr txBox="1"/>
          <p:nvPr/>
        </p:nvSpPr>
        <p:spPr>
          <a:xfrm>
            <a:off x="822960" y="3429000"/>
            <a:ext cx="2103120" cy="1005840"/>
          </a:xfrm>
          <a:prstGeom prst="rect">
            <a:avLst/>
          </a:prstGeom>
          <a:noFill/>
          <a:ln/>
        </p:spPr>
        <p:txBody>
          <a:bodyPr wrap="square" lIns="0" tIns="0" rIns="0" bIns="0" rtlCol="0" anchor="t"/>
          <a:lstStyle/>
          <a:p>
            <a:pPr indent="0" marL="0">
              <a:buNone/>
            </a:pPr>
            <a:r>
              <a:rPr lang="en-US" sz="1600" dirty="0">
                <a:solidFill>
                  <a:schemeClr val="tx1"/>
                </a:solidFill>
              </a:rPr>
              <a:t>imágenes enviadas al servidor</a:t>
            </a:r>
            <a:endParaRPr lang="en-US" sz="1600" dirty="0"/>
          </a:p>
        </p:txBody>
      </p:sp>
      <p:sp>
        <p:nvSpPr>
          <p:cNvPr id="6" name="Cifra lecturas de la mano por segundo"/>
          <p:cNvSpPr/>
          <p:nvPr/>
        </p:nvSpPr>
        <p:spPr>
          <a:xfrm>
            <a:off x="3364992" y="1737360"/>
            <a:ext cx="2606040" cy="2926080"/>
          </a:xfrm>
          <a:prstGeom prst="roundRect">
            <a:avLst>
              <a:gd name="adj" fmla="val 4211"/>
            </a:avLst>
          </a:prstGeom>
          <a:solidFill>
            <a:schemeClr val="bg2"/>
          </a:solidFill>
          <a:ln/>
        </p:spPr>
      </p:sp>
      <p:sp>
        <p:nvSpPr>
          <p:cNvPr id="7" name="Text 5"/>
          <p:cNvSpPr txBox="1"/>
          <p:nvPr/>
        </p:nvSpPr>
        <p:spPr>
          <a:xfrm>
            <a:off x="3639312" y="2103120"/>
            <a:ext cx="2103120" cy="1188720"/>
          </a:xfrm>
          <a:prstGeom prst="rect">
            <a:avLst/>
          </a:prstGeom>
          <a:noFill/>
          <a:ln/>
        </p:spPr>
        <p:txBody>
          <a:bodyPr wrap="square" lIns="0" tIns="0" rIns="0" bIns="0" rtlCol="0" anchor="t"/>
          <a:lstStyle/>
          <a:p>
            <a:pPr indent="0" marL="0">
              <a:buNone/>
            </a:pPr>
            <a:r>
              <a:rPr lang="en-US" sz="5400" b="1" dirty="0">
                <a:solidFill>
                  <a:schemeClr val="accent1"/>
                </a:solidFill>
                <a:latin typeface="Cambria" pitchFamily="34" charset="0"/>
                <a:ea typeface="Cambria" pitchFamily="34" charset="-122"/>
                <a:cs typeface="Cambria" pitchFamily="34" charset="-120"/>
              </a:rPr>
              <a:t>~20</a:t>
            </a:r>
            <a:endParaRPr lang="en-US" sz="5400" dirty="0"/>
          </a:p>
        </p:txBody>
      </p:sp>
      <p:sp>
        <p:nvSpPr>
          <p:cNvPr id="8" name="Text 6"/>
          <p:cNvSpPr txBox="1"/>
          <p:nvPr/>
        </p:nvSpPr>
        <p:spPr>
          <a:xfrm>
            <a:off x="3639312" y="3429000"/>
            <a:ext cx="2103120" cy="1005840"/>
          </a:xfrm>
          <a:prstGeom prst="rect">
            <a:avLst/>
          </a:prstGeom>
          <a:noFill/>
          <a:ln/>
        </p:spPr>
        <p:txBody>
          <a:bodyPr wrap="square" lIns="0" tIns="0" rIns="0" bIns="0" rtlCol="0" anchor="t"/>
          <a:lstStyle/>
          <a:p>
            <a:pPr indent="0" marL="0">
              <a:buNone/>
            </a:pPr>
            <a:r>
              <a:rPr lang="en-US" sz="1600" dirty="0">
                <a:solidFill>
                  <a:schemeClr val="tx1"/>
                </a:solidFill>
              </a:rPr>
              <a:t>lecturas de la mano por segundo</a:t>
            </a:r>
            <a:endParaRPr lang="en-US" sz="1600" dirty="0"/>
          </a:p>
        </p:txBody>
      </p:sp>
      <p:sp>
        <p:nvSpPr>
          <p:cNvPr id="9" name="Cifra fotos reales bien interpretadas"/>
          <p:cNvSpPr/>
          <p:nvPr/>
        </p:nvSpPr>
        <p:spPr>
          <a:xfrm>
            <a:off x="6181344" y="1737360"/>
            <a:ext cx="2606040" cy="2926080"/>
          </a:xfrm>
          <a:prstGeom prst="roundRect">
            <a:avLst>
              <a:gd name="adj" fmla="val 4211"/>
            </a:avLst>
          </a:prstGeom>
          <a:solidFill>
            <a:schemeClr val="tx1"/>
          </a:solidFill>
          <a:ln/>
        </p:spPr>
      </p:sp>
      <p:sp>
        <p:nvSpPr>
          <p:cNvPr id="10" name="Text 8"/>
          <p:cNvSpPr txBox="1"/>
          <p:nvPr/>
        </p:nvSpPr>
        <p:spPr>
          <a:xfrm>
            <a:off x="6455664" y="2103120"/>
            <a:ext cx="2103120" cy="1188720"/>
          </a:xfrm>
          <a:prstGeom prst="rect">
            <a:avLst/>
          </a:prstGeom>
          <a:noFill/>
          <a:ln/>
        </p:spPr>
        <p:txBody>
          <a:bodyPr wrap="square" lIns="0" tIns="0" rIns="0" bIns="0" rtlCol="0" anchor="t"/>
          <a:lstStyle/>
          <a:p>
            <a:pPr indent="0" marL="0">
              <a:buNone/>
            </a:pPr>
            <a:r>
              <a:rPr lang="en-US" sz="5400" b="1" dirty="0">
                <a:solidFill>
                  <a:schemeClr val="accent2"/>
                </a:solidFill>
                <a:latin typeface="Cambria" pitchFamily="34" charset="0"/>
                <a:ea typeface="Cambria" pitchFamily="34" charset="-122"/>
                <a:cs typeface="Cambria" pitchFamily="34" charset="-120"/>
              </a:rPr>
              <a:t>8 de 10</a:t>
            </a:r>
            <a:endParaRPr lang="en-US" sz="5400" dirty="0"/>
          </a:p>
        </p:txBody>
      </p:sp>
      <p:sp>
        <p:nvSpPr>
          <p:cNvPr id="11" name="Text 9"/>
          <p:cNvSpPr txBox="1"/>
          <p:nvPr/>
        </p:nvSpPr>
        <p:spPr>
          <a:xfrm>
            <a:off x="6455664" y="3429000"/>
            <a:ext cx="2103120" cy="1005840"/>
          </a:xfrm>
          <a:prstGeom prst="rect">
            <a:avLst/>
          </a:prstGeom>
          <a:noFill/>
          <a:ln/>
        </p:spPr>
        <p:txBody>
          <a:bodyPr wrap="square" lIns="0" tIns="0" rIns="0" bIns="0" rtlCol="0" anchor="t"/>
          <a:lstStyle/>
          <a:p>
            <a:pPr indent="0" marL="0">
              <a:buNone/>
            </a:pPr>
            <a:r>
              <a:rPr lang="en-US" sz="1600" dirty="0">
                <a:solidFill>
                  <a:schemeClr val="bg1"/>
                </a:solidFill>
              </a:rPr>
              <a:t>fotos reales bien interpretadas</a:t>
            </a:r>
            <a:endParaRPr lang="en-US" sz="1600" dirty="0"/>
          </a:p>
        </p:txBody>
      </p:sp>
      <p:sp>
        <p:nvSpPr>
          <p:cNvPr id="12" name="Cifra gestos para un pedido completo"/>
          <p:cNvSpPr/>
          <p:nvPr/>
        </p:nvSpPr>
        <p:spPr>
          <a:xfrm>
            <a:off x="8997696" y="1737360"/>
            <a:ext cx="2606040" cy="2926080"/>
          </a:xfrm>
          <a:prstGeom prst="roundRect">
            <a:avLst>
              <a:gd name="adj" fmla="val 4211"/>
            </a:avLst>
          </a:prstGeom>
          <a:solidFill>
            <a:schemeClr val="bg2"/>
          </a:solidFill>
          <a:ln/>
        </p:spPr>
      </p:sp>
      <p:sp>
        <p:nvSpPr>
          <p:cNvPr id="13" name="Text 11"/>
          <p:cNvSpPr txBox="1"/>
          <p:nvPr/>
        </p:nvSpPr>
        <p:spPr>
          <a:xfrm>
            <a:off x="9272016" y="2103120"/>
            <a:ext cx="2103120" cy="1188720"/>
          </a:xfrm>
          <a:prstGeom prst="rect">
            <a:avLst/>
          </a:prstGeom>
          <a:noFill/>
          <a:ln/>
        </p:spPr>
        <p:txBody>
          <a:bodyPr wrap="square" lIns="0" tIns="0" rIns="0" bIns="0" rtlCol="0" anchor="t"/>
          <a:lstStyle/>
          <a:p>
            <a:pPr indent="0" marL="0">
              <a:buNone/>
            </a:pPr>
            <a:r>
              <a:rPr lang="en-US" sz="5400" b="1" dirty="0">
                <a:solidFill>
                  <a:schemeClr val="accent1"/>
                </a:solidFill>
                <a:latin typeface="Cambria" pitchFamily="34" charset="0"/>
                <a:ea typeface="Cambria" pitchFamily="34" charset="-122"/>
                <a:cs typeface="Cambria" pitchFamily="34" charset="-120"/>
              </a:rPr>
              <a:t>5</a:t>
            </a:r>
            <a:endParaRPr lang="en-US" sz="5400" dirty="0"/>
          </a:p>
        </p:txBody>
      </p:sp>
      <p:sp>
        <p:nvSpPr>
          <p:cNvPr id="14" name="Text 12"/>
          <p:cNvSpPr txBox="1"/>
          <p:nvPr/>
        </p:nvSpPr>
        <p:spPr>
          <a:xfrm>
            <a:off x="9272016" y="3429000"/>
            <a:ext cx="2103120" cy="1005840"/>
          </a:xfrm>
          <a:prstGeom prst="rect">
            <a:avLst/>
          </a:prstGeom>
          <a:noFill/>
          <a:ln/>
        </p:spPr>
        <p:txBody>
          <a:bodyPr wrap="square" lIns="0" tIns="0" rIns="0" bIns="0" rtlCol="0" anchor="t"/>
          <a:lstStyle/>
          <a:p>
            <a:pPr indent="0" marL="0">
              <a:buNone/>
            </a:pPr>
            <a:r>
              <a:rPr lang="en-US" sz="1600" dirty="0">
                <a:solidFill>
                  <a:schemeClr val="tx1"/>
                </a:solidFill>
              </a:rPr>
              <a:t>gestos para un pedido completo</a:t>
            </a:r>
            <a:endParaRPr lang="en-US" sz="1600" dirty="0"/>
          </a:p>
        </p:txBody>
      </p:sp>
      <p:sp>
        <p:nvSpPr>
          <p:cNvPr id="15" name="Text 13"/>
          <p:cNvSpPr txBox="1"/>
          <p:nvPr/>
        </p:nvSpPr>
        <p:spPr>
          <a:xfrm>
            <a:off x="548640" y="5029200"/>
            <a:ext cx="11094415" cy="822960"/>
          </a:xfrm>
          <a:prstGeom prst="rect">
            <a:avLst/>
          </a:prstGeom>
          <a:noFill/>
          <a:ln/>
        </p:spPr>
        <p:txBody>
          <a:bodyPr wrap="square" lIns="0" tIns="0" rIns="0" bIns="0" rtlCol="0" anchor="t"/>
          <a:lstStyle/>
          <a:p>
            <a:pPr indent="0" marL="0">
              <a:buNone/>
            </a:pPr>
            <a:r>
              <a:rPr lang="en-US" sz="1600" dirty="0">
                <a:solidFill>
                  <a:schemeClr val="accent3"/>
                </a:solidFill>
              </a:rPr>
              <a:t>En las fotos donde ml5 encontró la mano, 8 de 10 gestos se leyeron bien; las 2 fallas fueron palmas abiertas con el pulgar pegado, que parecen 4 dedos.</a:t>
            </a:r>
            <a:endParaRPr lang="en-US" sz="16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94415" cy="822960"/>
          </a:xfrm>
          <a:prstGeom prst="rect">
            <a:avLst/>
          </a:prstGeom>
          <a:noFill/>
          <a:ln/>
        </p:spPr>
        <p:txBody>
          <a:bodyPr wrap="square" lIns="0" tIns="0" rIns="0" bIns="0" rtlCol="0" anchor="ctr"/>
          <a:lstStyle/>
          <a:p>
            <a:pPr indent="0" marL="0">
              <a:buNone/>
            </a:pPr>
            <a:r>
              <a:rPr lang="en-US" sz="3600" b="1" dirty="0">
                <a:solidFill>
                  <a:schemeClr val="tx1"/>
                </a:solidFill>
              </a:rPr>
              <a:t>Lo que sigue</a:t>
            </a:r>
            <a:endParaRPr lang="en-US" sz="3600" dirty="0"/>
          </a:p>
        </p:txBody>
      </p:sp>
      <p:sp>
        <p:nvSpPr>
          <p:cNvPr id="3" name="Lengua de Señas Colombiana"/>
          <p:cNvSpPr/>
          <p:nvPr/>
        </p:nvSpPr>
        <p:spPr>
          <a:xfrm>
            <a:off x="548640" y="1600200"/>
            <a:ext cx="5440680" cy="1965960"/>
          </a:xfrm>
          <a:prstGeom prst="roundRect">
            <a:avLst>
              <a:gd name="adj" fmla="val 5581"/>
            </a:avLst>
          </a:prstGeom>
          <a:solidFill>
            <a:schemeClr val="bg2"/>
          </a:solidFill>
          <a:ln/>
        </p:spPr>
      </p:sp>
      <p:sp>
        <p:nvSpPr>
          <p:cNvPr id="4" name="Círculo FaHandsAslInterpreting"/>
          <p:cNvSpPr/>
          <p:nvPr/>
        </p:nvSpPr>
        <p:spPr>
          <a:xfrm>
            <a:off x="868680" y="1920240"/>
            <a:ext cx="822960" cy="822960"/>
          </a:xfrm>
          <a:prstGeom prst="ellipse">
            <a:avLst/>
          </a:prstGeom>
          <a:solidFill>
            <a:schemeClr val="accent1"/>
          </a:solidFill>
          <a:ln/>
        </p:spPr>
      </p:sp>
      <p:pic>
        <p:nvPicPr>
          <p:cNvPr id="5" name="Ícono FaHandsAslInterpreting" descr="preencoded.png">    </p:cNvPr>
          <p:cNvPicPr>
            <a:picLocks noChangeAspect="1"/>
          </p:cNvPicPr>
          <p:nvPr/>
        </p:nvPicPr>
        <p:blipFill>
          <a:blip r:embed="rId1"/>
          <a:stretch>
            <a:fillRect/>
          </a:stretch>
        </p:blipFill>
        <p:spPr>
          <a:xfrm>
            <a:off x="1074420" y="2125980"/>
            <a:ext cx="411480" cy="411480"/>
          </a:xfrm>
          <a:prstGeom prst="rect">
            <a:avLst/>
          </a:prstGeom>
        </p:spPr>
      </p:pic>
      <p:sp>
        <p:nvSpPr>
          <p:cNvPr id="6" name="Text 3"/>
          <p:cNvSpPr txBox="1"/>
          <p:nvPr/>
        </p:nvSpPr>
        <p:spPr>
          <a:xfrm>
            <a:off x="1920240" y="1920240"/>
            <a:ext cx="3840480" cy="457200"/>
          </a:xfrm>
          <a:prstGeom prst="rect">
            <a:avLst/>
          </a:prstGeom>
          <a:noFill/>
          <a:ln/>
        </p:spPr>
        <p:txBody>
          <a:bodyPr wrap="square" lIns="0" tIns="0" rIns="0" bIns="0" rtlCol="0" anchor="t"/>
          <a:lstStyle/>
          <a:p>
            <a:pPr indent="0" marL="0">
              <a:buNone/>
            </a:pPr>
            <a:r>
              <a:rPr lang="en-US" sz="2000" b="1" dirty="0">
                <a:solidFill>
                  <a:schemeClr val="tx1"/>
                </a:solidFill>
              </a:rPr>
              <a:t>Lengua de Señas Colombiana</a:t>
            </a:r>
            <a:endParaRPr lang="en-US" sz="2000" dirty="0"/>
          </a:p>
        </p:txBody>
      </p:sp>
      <p:sp>
        <p:nvSpPr>
          <p:cNvPr id="7" name="Text 4"/>
          <p:cNvSpPr txBox="1"/>
          <p:nvPr/>
        </p:nvSpPr>
        <p:spPr>
          <a:xfrm>
            <a:off x="1920240" y="2423160"/>
            <a:ext cx="3840480" cy="914400"/>
          </a:xfrm>
          <a:prstGeom prst="rect">
            <a:avLst/>
          </a:prstGeom>
          <a:noFill/>
          <a:ln/>
        </p:spPr>
        <p:txBody>
          <a:bodyPr wrap="square" lIns="0" tIns="0" rIns="0" bIns="0" rtlCol="0" anchor="t"/>
          <a:lstStyle/>
          <a:p>
            <a:pPr indent="0" marL="0">
              <a:buNone/>
            </a:pPr>
            <a:r>
              <a:rPr lang="en-US" sz="1600" dirty="0">
                <a:solidFill>
                  <a:schemeClr val="accent3"/>
                </a:solidFill>
              </a:rPr>
              <a:t>Entrenar una red propia con ejemplos de señas reales</a:t>
            </a:r>
            <a:endParaRPr lang="en-US" sz="1600" dirty="0"/>
          </a:p>
        </p:txBody>
      </p:sp>
      <p:sp>
        <p:nvSpPr>
          <p:cNvPr id="8" name="Gestos con la cabeza"/>
          <p:cNvSpPr/>
          <p:nvPr/>
        </p:nvSpPr>
        <p:spPr>
          <a:xfrm>
            <a:off x="6172200" y="1600200"/>
            <a:ext cx="5440680" cy="1965960"/>
          </a:xfrm>
          <a:prstGeom prst="roundRect">
            <a:avLst>
              <a:gd name="adj" fmla="val 5581"/>
            </a:avLst>
          </a:prstGeom>
          <a:solidFill>
            <a:schemeClr val="bg2"/>
          </a:solidFill>
          <a:ln/>
        </p:spPr>
      </p:sp>
      <p:sp>
        <p:nvSpPr>
          <p:cNvPr id="9" name="Círculo FaFaceSmile"/>
          <p:cNvSpPr/>
          <p:nvPr/>
        </p:nvSpPr>
        <p:spPr>
          <a:xfrm>
            <a:off x="6492240" y="1920240"/>
            <a:ext cx="822960" cy="822960"/>
          </a:xfrm>
          <a:prstGeom prst="ellipse">
            <a:avLst/>
          </a:prstGeom>
          <a:solidFill>
            <a:schemeClr val="accent1"/>
          </a:solidFill>
          <a:ln/>
        </p:spPr>
      </p:sp>
      <p:pic>
        <p:nvPicPr>
          <p:cNvPr id="10" name="Ícono FaFaceSmile" descr="preencoded.png">    </p:cNvPr>
          <p:cNvPicPr>
            <a:picLocks noChangeAspect="1"/>
          </p:cNvPicPr>
          <p:nvPr/>
        </p:nvPicPr>
        <p:blipFill>
          <a:blip r:embed="rId2"/>
          <a:stretch>
            <a:fillRect/>
          </a:stretch>
        </p:blipFill>
        <p:spPr>
          <a:xfrm>
            <a:off x="6697980" y="2125980"/>
            <a:ext cx="411480" cy="411480"/>
          </a:xfrm>
          <a:prstGeom prst="rect">
            <a:avLst/>
          </a:prstGeom>
        </p:spPr>
      </p:pic>
      <p:sp>
        <p:nvSpPr>
          <p:cNvPr id="11" name="Text 7"/>
          <p:cNvSpPr txBox="1"/>
          <p:nvPr/>
        </p:nvSpPr>
        <p:spPr>
          <a:xfrm>
            <a:off x="7543800" y="1920240"/>
            <a:ext cx="3840480" cy="457200"/>
          </a:xfrm>
          <a:prstGeom prst="rect">
            <a:avLst/>
          </a:prstGeom>
          <a:noFill/>
          <a:ln/>
        </p:spPr>
        <p:txBody>
          <a:bodyPr wrap="square" lIns="0" tIns="0" rIns="0" bIns="0" rtlCol="0" anchor="t"/>
          <a:lstStyle/>
          <a:p>
            <a:pPr indent="0" marL="0">
              <a:buNone/>
            </a:pPr>
            <a:r>
              <a:rPr lang="en-US" sz="2000" b="1" dirty="0">
                <a:solidFill>
                  <a:schemeClr val="tx1"/>
                </a:solidFill>
              </a:rPr>
              <a:t>Gestos con la cabeza</a:t>
            </a:r>
            <a:endParaRPr lang="en-US" sz="2000" dirty="0"/>
          </a:p>
        </p:txBody>
      </p:sp>
      <p:sp>
        <p:nvSpPr>
          <p:cNvPr id="12" name="Text 8"/>
          <p:cNvSpPr txBox="1"/>
          <p:nvPr/>
        </p:nvSpPr>
        <p:spPr>
          <a:xfrm>
            <a:off x="7543800" y="2423160"/>
            <a:ext cx="3840480" cy="914400"/>
          </a:xfrm>
          <a:prstGeom prst="rect">
            <a:avLst/>
          </a:prstGeom>
          <a:noFill/>
          <a:ln/>
        </p:spPr>
        <p:txBody>
          <a:bodyPr wrap="square" lIns="0" tIns="0" rIns="0" bIns="0" rtlCol="0" anchor="t"/>
          <a:lstStyle/>
          <a:p>
            <a:pPr indent="0" marL="0">
              <a:buNone/>
            </a:pPr>
            <a:r>
              <a:rPr lang="en-US" sz="1600" dirty="0">
                <a:solidFill>
                  <a:schemeClr val="accent3"/>
                </a:solidFill>
              </a:rPr>
              <a:t>Asentir o negar para confirmar, sin usar las manos</a:t>
            </a:r>
            <a:endParaRPr lang="en-US" sz="1600" dirty="0"/>
          </a:p>
        </p:txBody>
      </p:sp>
      <p:sp>
        <p:nvSpPr>
          <p:cNvPr id="13" name="Kiosko completo"/>
          <p:cNvSpPr/>
          <p:nvPr/>
        </p:nvSpPr>
        <p:spPr>
          <a:xfrm>
            <a:off x="548640" y="3840480"/>
            <a:ext cx="5440680" cy="1965960"/>
          </a:xfrm>
          <a:prstGeom prst="roundRect">
            <a:avLst>
              <a:gd name="adj" fmla="val 5581"/>
            </a:avLst>
          </a:prstGeom>
          <a:solidFill>
            <a:schemeClr val="bg2"/>
          </a:solidFill>
          <a:ln/>
        </p:spPr>
      </p:sp>
      <p:sp>
        <p:nvSpPr>
          <p:cNvPr id="14" name="Círculo FaQrcode"/>
          <p:cNvSpPr/>
          <p:nvPr/>
        </p:nvSpPr>
        <p:spPr>
          <a:xfrm>
            <a:off x="868680" y="4160520"/>
            <a:ext cx="822960" cy="822960"/>
          </a:xfrm>
          <a:prstGeom prst="ellipse">
            <a:avLst/>
          </a:prstGeom>
          <a:solidFill>
            <a:schemeClr val="accent1"/>
          </a:solidFill>
          <a:ln/>
        </p:spPr>
      </p:sp>
      <p:pic>
        <p:nvPicPr>
          <p:cNvPr id="15" name="Ícono FaQrcode" descr="preencoded.png">    </p:cNvPr>
          <p:cNvPicPr>
            <a:picLocks noChangeAspect="1"/>
          </p:cNvPicPr>
          <p:nvPr/>
        </p:nvPicPr>
        <p:blipFill>
          <a:blip r:embed="rId3"/>
          <a:stretch>
            <a:fillRect/>
          </a:stretch>
        </p:blipFill>
        <p:spPr>
          <a:xfrm>
            <a:off x="1074420" y="4366260"/>
            <a:ext cx="411480" cy="411480"/>
          </a:xfrm>
          <a:prstGeom prst="rect">
            <a:avLst/>
          </a:prstGeom>
        </p:spPr>
      </p:pic>
      <p:sp>
        <p:nvSpPr>
          <p:cNvPr id="16" name="Text 11"/>
          <p:cNvSpPr txBox="1"/>
          <p:nvPr/>
        </p:nvSpPr>
        <p:spPr>
          <a:xfrm>
            <a:off x="1920240" y="4160520"/>
            <a:ext cx="3840480" cy="457200"/>
          </a:xfrm>
          <a:prstGeom prst="rect">
            <a:avLst/>
          </a:prstGeom>
          <a:noFill/>
          <a:ln/>
        </p:spPr>
        <p:txBody>
          <a:bodyPr wrap="square" lIns="0" tIns="0" rIns="0" bIns="0" rtlCol="0" anchor="t"/>
          <a:lstStyle/>
          <a:p>
            <a:pPr indent="0" marL="0">
              <a:buNone/>
            </a:pPr>
            <a:r>
              <a:rPr lang="en-US" sz="2000" b="1" dirty="0">
                <a:solidFill>
                  <a:schemeClr val="tx1"/>
                </a:solidFill>
              </a:rPr>
              <a:t>Kiosko completo</a:t>
            </a:r>
            <a:endParaRPr lang="en-US" sz="2000" dirty="0"/>
          </a:p>
        </p:txBody>
      </p:sp>
      <p:sp>
        <p:nvSpPr>
          <p:cNvPr id="17" name="Text 12"/>
          <p:cNvSpPr txBox="1"/>
          <p:nvPr/>
        </p:nvSpPr>
        <p:spPr>
          <a:xfrm>
            <a:off x="1920240" y="4663440"/>
            <a:ext cx="3840480" cy="914400"/>
          </a:xfrm>
          <a:prstGeom prst="rect">
            <a:avLst/>
          </a:prstGeom>
          <a:noFill/>
          <a:ln/>
        </p:spPr>
        <p:txBody>
          <a:bodyPr wrap="square" lIns="0" tIns="0" rIns="0" bIns="0" rtlCol="0" anchor="t"/>
          <a:lstStyle/>
          <a:p>
            <a:pPr indent="0" marL="0">
              <a:buNone/>
            </a:pPr>
            <a:r>
              <a:rPr lang="en-US" sz="1600" dirty="0">
                <a:solidFill>
                  <a:schemeClr val="accent3"/>
                </a:solidFill>
              </a:rPr>
              <a:t>Pantalla completa y un código QR para seguir el turno</a:t>
            </a:r>
            <a:endParaRPr lang="en-US" sz="1600" dirty="0"/>
          </a:p>
        </p:txBody>
      </p:sp>
      <p:sp>
        <p:nvSpPr>
          <p:cNvPr id="18" name="Funcionar sin internet"/>
          <p:cNvSpPr/>
          <p:nvPr/>
        </p:nvSpPr>
        <p:spPr>
          <a:xfrm>
            <a:off x="6172200" y="3840480"/>
            <a:ext cx="5440680" cy="1965960"/>
          </a:xfrm>
          <a:prstGeom prst="roundRect">
            <a:avLst>
              <a:gd name="adj" fmla="val 5581"/>
            </a:avLst>
          </a:prstGeom>
          <a:solidFill>
            <a:schemeClr val="bg2"/>
          </a:solidFill>
          <a:ln/>
        </p:spPr>
      </p:sp>
      <p:sp>
        <p:nvSpPr>
          <p:cNvPr id="19" name="Círculo FaWifi"/>
          <p:cNvSpPr/>
          <p:nvPr/>
        </p:nvSpPr>
        <p:spPr>
          <a:xfrm>
            <a:off x="6492240" y="4160520"/>
            <a:ext cx="822960" cy="822960"/>
          </a:xfrm>
          <a:prstGeom prst="ellipse">
            <a:avLst/>
          </a:prstGeom>
          <a:solidFill>
            <a:schemeClr val="accent1"/>
          </a:solidFill>
          <a:ln/>
        </p:spPr>
      </p:sp>
      <p:pic>
        <p:nvPicPr>
          <p:cNvPr id="20" name="Ícono FaWifi" descr="preencoded.png">    </p:cNvPr>
          <p:cNvPicPr>
            <a:picLocks noChangeAspect="1"/>
          </p:cNvPicPr>
          <p:nvPr/>
        </p:nvPicPr>
        <p:blipFill>
          <a:blip r:embed="rId4"/>
          <a:stretch>
            <a:fillRect/>
          </a:stretch>
        </p:blipFill>
        <p:spPr>
          <a:xfrm>
            <a:off x="6697980" y="4366260"/>
            <a:ext cx="411480" cy="411480"/>
          </a:xfrm>
          <a:prstGeom prst="rect">
            <a:avLst/>
          </a:prstGeom>
        </p:spPr>
      </p:pic>
      <p:sp>
        <p:nvSpPr>
          <p:cNvPr id="21" name="Text 15"/>
          <p:cNvSpPr txBox="1"/>
          <p:nvPr/>
        </p:nvSpPr>
        <p:spPr>
          <a:xfrm>
            <a:off x="7543800" y="4160520"/>
            <a:ext cx="3840480" cy="457200"/>
          </a:xfrm>
          <a:prstGeom prst="rect">
            <a:avLst/>
          </a:prstGeom>
          <a:noFill/>
          <a:ln/>
        </p:spPr>
        <p:txBody>
          <a:bodyPr wrap="square" lIns="0" tIns="0" rIns="0" bIns="0" rtlCol="0" anchor="t"/>
          <a:lstStyle/>
          <a:p>
            <a:pPr indent="0" marL="0">
              <a:buNone/>
            </a:pPr>
            <a:r>
              <a:rPr lang="en-US" sz="2000" b="1" dirty="0">
                <a:solidFill>
                  <a:schemeClr val="tx1"/>
                </a:solidFill>
              </a:rPr>
              <a:t>Funcionar sin internet</a:t>
            </a:r>
            <a:endParaRPr lang="en-US" sz="2000" dirty="0"/>
          </a:p>
        </p:txBody>
      </p:sp>
      <p:sp>
        <p:nvSpPr>
          <p:cNvPr id="22" name="Text 16"/>
          <p:cNvSpPr txBox="1"/>
          <p:nvPr/>
        </p:nvSpPr>
        <p:spPr>
          <a:xfrm>
            <a:off x="7543800" y="4663440"/>
            <a:ext cx="3840480" cy="914400"/>
          </a:xfrm>
          <a:prstGeom prst="rect">
            <a:avLst/>
          </a:prstGeom>
          <a:noFill/>
          <a:ln/>
        </p:spPr>
        <p:txBody>
          <a:bodyPr wrap="square" lIns="0" tIns="0" rIns="0" bIns="0" rtlCol="0" anchor="t"/>
          <a:lstStyle/>
          <a:p>
            <a:pPr indent="0" marL="0">
              <a:buNone/>
            </a:pPr>
            <a:r>
              <a:rPr lang="en-US" sz="1600" dirty="0">
                <a:solidFill>
                  <a:schemeClr val="accent3"/>
                </a:solidFill>
              </a:rPr>
              <a:t>Tener la librería y el modelo en nuestro propio servidor</a:t>
            </a:r>
            <a:endParaRPr lang="en-US" sz="16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1280160"/>
            <a:ext cx="11094415" cy="1097280"/>
          </a:xfrm>
          <a:prstGeom prst="rect">
            <a:avLst/>
          </a:prstGeom>
          <a:noFill/>
          <a:ln/>
        </p:spPr>
        <p:txBody>
          <a:bodyPr wrap="square" lIns="0" tIns="0" rIns="0" bIns="0" rtlCol="0"/>
          <a:lstStyle/>
          <a:p>
            <a:pPr indent="0" marL="0">
              <a:buNone/>
            </a:pPr>
            <a:r>
              <a:rPr lang="en-US" sz="4400" b="1" dirty="0">
                <a:solidFill>
                  <a:schemeClr val="bg1"/>
                </a:solidFill>
              </a:rPr>
              <a:t>Gracias</a:t>
            </a:r>
            <a:endParaRPr lang="en-US" sz="4400" dirty="0"/>
          </a:p>
        </p:txBody>
      </p:sp>
      <p:sp>
        <p:nvSpPr>
          <p:cNvPr id="3" name="Text 1"/>
          <p:cNvSpPr txBox="1"/>
          <p:nvPr/>
        </p:nvSpPr>
        <p:spPr>
          <a:xfrm>
            <a:off x="548640" y="2743200"/>
            <a:ext cx="7315200" cy="457200"/>
          </a:xfrm>
          <a:prstGeom prst="rect">
            <a:avLst/>
          </a:prstGeom>
          <a:noFill/>
          <a:ln/>
        </p:spPr>
        <p:txBody>
          <a:bodyPr wrap="square" lIns="0" tIns="0" rIns="0" bIns="0" rtlCol="0" anchor="t"/>
          <a:lstStyle/>
          <a:p>
            <a:pPr indent="0" marL="0">
              <a:buNone/>
            </a:pPr>
            <a:r>
              <a:rPr lang="en-US" sz="1800" b="1" dirty="0">
                <a:solidFill>
                  <a:schemeClr val="accent2"/>
                </a:solidFill>
              </a:rPr>
              <a:t>Demo en vivo</a:t>
            </a:r>
            <a:endParaRPr lang="en-US" sz="1800" dirty="0"/>
          </a:p>
        </p:txBody>
      </p:sp>
      <p:sp>
        <p:nvSpPr>
          <p:cNvPr id="4" name="Text 2"/>
          <p:cNvSpPr txBox="1"/>
          <p:nvPr/>
        </p:nvSpPr>
        <p:spPr>
          <a:xfrm>
            <a:off x="548640" y="3200400"/>
            <a:ext cx="9144000" cy="822960"/>
          </a:xfrm>
          <a:prstGeom prst="rect">
            <a:avLst/>
          </a:prstGeom>
          <a:noFill/>
          <a:ln/>
        </p:spPr>
        <p:txBody>
          <a:bodyPr wrap="square" lIns="0" tIns="0" rIns="0" bIns="0" rtlCol="0" anchor="t"/>
          <a:lstStyle/>
          <a:p>
            <a:pPr indent="0" marL="0">
              <a:buNone/>
            </a:pPr>
            <a:r>
              <a:rPr lang="en-US" sz="3600" b="1" dirty="0">
                <a:solidFill>
                  <a:schemeClr val="bg1"/>
                </a:solidFill>
                <a:latin typeface="Cambria" pitchFamily="34" charset="0"/>
                <a:ea typeface="Cambria" pitchFamily="34" charset="-122"/>
                <a:cs typeface="Cambria" pitchFamily="34" charset="-120"/>
              </a:rPr>
              <a:t>localhost:8000/gestos</a:t>
            </a:r>
            <a:endParaRPr lang="en-US" sz="3600" dirty="0"/>
          </a:p>
        </p:txBody>
      </p:sp>
      <p:sp>
        <p:nvSpPr>
          <p:cNvPr id="5" name="Text 3"/>
          <p:cNvSpPr txBox="1"/>
          <p:nvPr/>
        </p:nvSpPr>
        <p:spPr>
          <a:xfrm>
            <a:off x="548640" y="4754880"/>
            <a:ext cx="7315200" cy="548640"/>
          </a:xfrm>
          <a:prstGeom prst="rect">
            <a:avLst/>
          </a:prstGeom>
          <a:noFill/>
          <a:ln/>
        </p:spPr>
        <p:txBody>
          <a:bodyPr wrap="square" lIns="0" tIns="0" rIns="0" bIns="0" rtlCol="0" anchor="t"/>
          <a:lstStyle/>
          <a:p>
            <a:pPr indent="0" marL="0">
              <a:buNone/>
            </a:pPr>
            <a:r>
              <a:rPr lang="en-US" sz="2400" dirty="0">
                <a:solidFill>
                  <a:srgbClr val="E9DCCB"/>
                </a:solidFill>
              </a:rPr>
              <a:t>¿Preguntas?</a:t>
            </a:r>
            <a:endParaRPr lang="en-US" sz="2400" dirty="0"/>
          </a:p>
        </p:txBody>
      </p:sp>
    </p:spTree>
  </p:cSld>
  <p:clrMapOvr>
    <a:masterClrMapping/>
  </p:clrMapOvr>
</p:sld>
</file>

<file path=ppt/theme/theme1.xml><?xml version="1.0" encoding="utf-8"?>
<a:theme xmlns:a="http://schemas.openxmlformats.org/drawingml/2006/main" name="Appresso ml5">
  <a:themeElements>
    <a:clrScheme name="Appresso ml5">
      <a:dk1>
        <a:srgbClr val="2A211C"/>
      </a:dk1>
      <a:lt1>
        <a:srgbClr val="FFFFFF"/>
      </a:lt1>
      <a:dk2>
        <a:srgbClr val="A11D14"/>
      </a:dk2>
      <a:lt2>
        <a:srgbClr val="F7F3EE"/>
      </a:lt2>
      <a:accent1>
        <a:srgbClr val="D62B1F"/>
      </a:accent1>
      <a:accent2>
        <a:srgbClr val="F2B134"/>
      </a:accent2>
      <a:accent3>
        <a:srgbClr val="6B5E55"/>
      </a:accent3>
      <a:accent4>
        <a:srgbClr val="1B6B1B"/>
      </a:accent4>
      <a:accent5>
        <a:srgbClr val="A11D14"/>
      </a:accent5>
      <a:accent6>
        <a:srgbClr val="3A2F28"/>
      </a:accent6>
      <a:hlink>
        <a:srgbClr val="D62B1F"/>
      </a:hlink>
      <a:folHlink>
        <a:srgbClr val="A11D14"/>
      </a:folHlink>
    </a:clrScheme>
    <a:fontScheme name="Appresso ml5">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ml5.js: inteligencia artificial que ve, directo en el navegador</dc:title>
  <dc:subject>Qué es ml5.js, cómo funciona y cómo lo usamos en Appresso Food</dc:subject>
  <dc:creator>PptxGenJS</dc:creator>
  <cp:lastModifiedBy>PptxGenJS</cp:lastModifiedBy>
  <cp:revision>1</cp:revision>
  <dcterms:created xsi:type="dcterms:W3CDTF">2026-10-28T12:36:35Z</dcterms:created>
  <dcterms:modified xsi:type="dcterms:W3CDTF">2026-10-28T12:36:35Z</dcterms:modified>
</cp:coreProperties>
</file>